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9" r:id="rId2"/>
    <p:sldId id="260" r:id="rId3"/>
    <p:sldId id="288" r:id="rId4"/>
    <p:sldId id="261" r:id="rId5"/>
    <p:sldId id="289" r:id="rId6"/>
    <p:sldId id="287" r:id="rId7"/>
    <p:sldId id="267" r:id="rId8"/>
    <p:sldId id="276" r:id="rId9"/>
    <p:sldId id="270" r:id="rId10"/>
    <p:sldId id="274" r:id="rId11"/>
    <p:sldId id="273" r:id="rId12"/>
    <p:sldId id="265" r:id="rId13"/>
    <p:sldId id="278" r:id="rId14"/>
    <p:sldId id="280" r:id="rId15"/>
    <p:sldId id="286" r:id="rId16"/>
    <p:sldId id="263" r:id="rId17"/>
    <p:sldId id="285" r:id="rId18"/>
    <p:sldId id="283" r:id="rId19"/>
    <p:sldId id="284" r:id="rId20"/>
    <p:sldId id="282" r:id="rId21"/>
    <p:sldId id="258" r:id="rId2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4660"/>
  </p:normalViewPr>
  <p:slideViewPr>
    <p:cSldViewPr snapToGrid="0">
      <p:cViewPr varScale="1">
        <p:scale>
          <a:sx n="82" d="100"/>
          <a:sy n="82" d="100"/>
        </p:scale>
        <p:origin x="71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tr-TR" dirty="0"/>
              <a:t>2024 -</a:t>
            </a:r>
            <a:r>
              <a:rPr lang="tr-TR" baseline="0" dirty="0"/>
              <a:t> 2025</a:t>
            </a:r>
            <a:r>
              <a:rPr lang="tr-TR" dirty="0"/>
              <a:t> SU TÜKETİMİ</a:t>
            </a:r>
          </a:p>
        </c:rich>
      </c:tx>
      <c:layout>
        <c:manualLayout>
          <c:xMode val="edge"/>
          <c:yMode val="edge"/>
          <c:x val="0.32103378621789924"/>
          <c:y val="1.02339181286549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tr-TR"/>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Sayfa1!$B$1</c:f>
              <c:strCache>
                <c:ptCount val="1"/>
                <c:pt idx="0">
                  <c:v>2024</c:v>
                </c:pt>
              </c:strCache>
            </c:strRef>
          </c:tx>
          <c:spPr>
            <a:solidFill>
              <a:schemeClr val="dk1">
                <a:tint val="88500"/>
              </a:schemeClr>
            </a:solidFill>
            <a:ln>
              <a:noFill/>
            </a:ln>
            <a:effectLst/>
            <a:sp3d/>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Sayfa1!$A$2:$A$14</c:f>
              <c:strCache>
                <c:ptCount val="12"/>
                <c:pt idx="0">
                  <c:v>OCAK </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Sayfa1!$B$2:$B$14</c:f>
              <c:numCache>
                <c:formatCode>General</c:formatCode>
                <c:ptCount val="13"/>
                <c:pt idx="0">
                  <c:v>0</c:v>
                </c:pt>
                <c:pt idx="1">
                  <c:v>0</c:v>
                </c:pt>
                <c:pt idx="2">
                  <c:v>0</c:v>
                </c:pt>
                <c:pt idx="3">
                  <c:v>182470</c:v>
                </c:pt>
                <c:pt idx="4">
                  <c:v>10235</c:v>
                </c:pt>
                <c:pt idx="5">
                  <c:v>238900</c:v>
                </c:pt>
                <c:pt idx="6">
                  <c:v>253105</c:v>
                </c:pt>
                <c:pt idx="7">
                  <c:v>17548</c:v>
                </c:pt>
                <c:pt idx="8">
                  <c:v>254820</c:v>
                </c:pt>
                <c:pt idx="9">
                  <c:v>13317</c:v>
                </c:pt>
                <c:pt idx="10">
                  <c:v>0</c:v>
                </c:pt>
                <c:pt idx="11">
                  <c:v>0</c:v>
                </c:pt>
              </c:numCache>
            </c:numRef>
          </c:val>
          <c:extLst>
            <c:ext xmlns:c16="http://schemas.microsoft.com/office/drawing/2014/chart" uri="{C3380CC4-5D6E-409C-BE32-E72D297353CC}">
              <c16:uniqueId val="{00000000-6490-45C9-9508-4CD4AD563056}"/>
            </c:ext>
          </c:extLst>
        </c:ser>
        <c:ser>
          <c:idx val="1"/>
          <c:order val="1"/>
          <c:tx>
            <c:strRef>
              <c:f>Sayfa1!$C$1</c:f>
              <c:strCache>
                <c:ptCount val="1"/>
                <c:pt idx="0">
                  <c:v>2025</c:v>
                </c:pt>
              </c:strCache>
            </c:strRef>
          </c:tx>
          <c:spPr>
            <a:solidFill>
              <a:schemeClr val="dk1">
                <a:tint val="55000"/>
              </a:schemeClr>
            </a:solidFill>
            <a:ln>
              <a:noFill/>
            </a:ln>
            <a:effectLst/>
            <a:sp3d/>
          </c:spPr>
          <c:invertIfNegative val="0"/>
          <c:dLbls>
            <c:dLbl>
              <c:idx val="4"/>
              <c:layout>
                <c:manualLayout>
                  <c:x val="1.6339869281045752E-3"/>
                  <c:y val="-1.0721123712016836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711-4B16-BE3C-365FF42905AF}"/>
                </c:ext>
              </c:extLst>
            </c:dLbl>
            <c:dLbl>
              <c:idx val="6"/>
              <c:layout>
                <c:manualLayout>
                  <c:x val="4.9019607843137254E-3"/>
                  <c:y val="-7.309941520467835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490-45C9-9508-4CD4AD563056}"/>
                </c:ext>
              </c:extLst>
            </c:dLbl>
            <c:dLbl>
              <c:idx val="7"/>
              <c:layout>
                <c:manualLayout>
                  <c:x val="5.7189542483659529E-3"/>
                  <c:y val="-1.0721123712016836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490-45C9-9508-4CD4AD563056}"/>
                </c:ext>
              </c:extLst>
            </c:dLbl>
            <c:dLbl>
              <c:idx val="8"/>
              <c:layout>
                <c:manualLayout>
                  <c:x val="4.0849673202614381E-3"/>
                  <c:y val="-1.0721123712016836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490-45C9-9508-4CD4AD563056}"/>
                </c:ext>
              </c:extLst>
            </c:dLbl>
            <c:dLbl>
              <c:idx val="9"/>
              <c:layout>
                <c:manualLayout>
                  <c:x val="3.2679738562090303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490-45C9-9508-4CD4AD563056}"/>
                </c:ext>
              </c:extLst>
            </c:dLbl>
            <c:dLbl>
              <c:idx val="10"/>
              <c:layout>
                <c:manualLayout>
                  <c:x val="3.2679738562090303E-3"/>
                  <c:y val="1.461988304093460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490-45C9-9508-4CD4AD563056}"/>
                </c:ext>
              </c:extLst>
            </c:dLbl>
            <c:dLbl>
              <c:idx val="11"/>
              <c:layout>
                <c:manualLayout>
                  <c:x val="2.4509803921568627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711-4B16-BE3C-365FF42905AF}"/>
                </c:ext>
              </c:extLst>
            </c:dLbl>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Sayfa1!$A$2:$A$14</c:f>
              <c:strCache>
                <c:ptCount val="12"/>
                <c:pt idx="0">
                  <c:v>OCAK </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Sayfa1!$C$2:$C$14</c:f>
              <c:numCache>
                <c:formatCode>#,##0.00\ [$m³]</c:formatCode>
                <c:ptCount val="13"/>
                <c:pt idx="0">
                  <c:v>1182</c:v>
                </c:pt>
                <c:pt idx="1">
                  <c:v>1323</c:v>
                </c:pt>
                <c:pt idx="2">
                  <c:v>3495</c:v>
                </c:pt>
                <c:pt idx="3">
                  <c:v>13934</c:v>
                </c:pt>
                <c:pt idx="4">
                  <c:v>13988</c:v>
                </c:pt>
                <c:pt idx="5">
                  <c:v>15758</c:v>
                </c:pt>
                <c:pt idx="6">
                  <c:v>20467</c:v>
                </c:pt>
                <c:pt idx="7">
                  <c:v>18057</c:v>
                </c:pt>
                <c:pt idx="8">
                  <c:v>22631</c:v>
                </c:pt>
                <c:pt idx="9">
                  <c:v>16873</c:v>
                </c:pt>
                <c:pt idx="10">
                  <c:v>13312</c:v>
                </c:pt>
                <c:pt idx="11">
                  <c:v>574</c:v>
                </c:pt>
              </c:numCache>
            </c:numRef>
          </c:val>
          <c:extLst>
            <c:ext xmlns:c16="http://schemas.microsoft.com/office/drawing/2014/chart" uri="{C3380CC4-5D6E-409C-BE32-E72D297353CC}">
              <c16:uniqueId val="{00000008-6490-45C9-9508-4CD4AD563056}"/>
            </c:ext>
          </c:extLst>
        </c:ser>
        <c:dLbls>
          <c:showLegendKey val="0"/>
          <c:showVal val="1"/>
          <c:showCatName val="0"/>
          <c:showSerName val="0"/>
          <c:showPercent val="0"/>
          <c:showBubbleSize val="0"/>
        </c:dLbls>
        <c:gapWidth val="150"/>
        <c:shape val="box"/>
        <c:axId val="550520616"/>
        <c:axId val="550520224"/>
        <c:axId val="0"/>
      </c:bar3DChart>
      <c:catAx>
        <c:axId val="55052061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tr-TR"/>
          </a:p>
        </c:txPr>
        <c:crossAx val="550520224"/>
        <c:crosses val="autoZero"/>
        <c:auto val="1"/>
        <c:lblAlgn val="ctr"/>
        <c:lblOffset val="100"/>
        <c:noMultiLvlLbl val="1"/>
      </c:catAx>
      <c:valAx>
        <c:axId val="5505202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tr-TR"/>
          </a:p>
        </c:txPr>
        <c:crossAx val="5505206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chart>
  <c:spPr>
    <a:noFill/>
    <a:ln>
      <a:noFill/>
    </a:ln>
    <a:effectLst/>
  </c:spPr>
  <c:txPr>
    <a:bodyPr/>
    <a:lstStyle/>
    <a:p>
      <a:pPr>
        <a:defRPr/>
      </a:pPr>
      <a:endParaRPr lang="tr-T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0.15892885023116821"/>
          <c:y val="4.5298439293387463E-2"/>
          <c:w val="0.8808056102362205"/>
          <c:h val="0.69691904527559057"/>
        </c:manualLayout>
      </c:layout>
      <c:lineChart>
        <c:grouping val="standard"/>
        <c:varyColors val="0"/>
        <c:ser>
          <c:idx val="0"/>
          <c:order val="0"/>
          <c:tx>
            <c:strRef>
              <c:f>Sayfa1!$B$1</c:f>
              <c:strCache>
                <c:ptCount val="1"/>
                <c:pt idx="0">
                  <c:v>SU 2024</c:v>
                </c:pt>
              </c:strCache>
            </c:strRef>
          </c:tx>
          <c:spPr>
            <a:ln w="28575" cap="rnd">
              <a:solidFill>
                <a:schemeClr val="dk1">
                  <a:tint val="88500"/>
                </a:schemeClr>
              </a:solidFill>
              <a:round/>
            </a:ln>
            <a:effectLst/>
          </c:spPr>
          <c:marker>
            <c:symbol val="none"/>
          </c:marker>
          <c:cat>
            <c:strRef>
              <c:f>Sayfa1!$A$2:$A$13</c:f>
              <c:strCache>
                <c:ptCount val="12"/>
                <c:pt idx="0">
                  <c:v>OCAK</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Sayfa1!$B$2:$B$13</c:f>
              <c:numCache>
                <c:formatCode>General</c:formatCode>
                <c:ptCount val="12"/>
                <c:pt idx="0">
                  <c:v>0</c:v>
                </c:pt>
                <c:pt idx="1">
                  <c:v>0</c:v>
                </c:pt>
                <c:pt idx="2">
                  <c:v>0</c:v>
                </c:pt>
                <c:pt idx="3" formatCode="#,##0">
                  <c:v>182470</c:v>
                </c:pt>
                <c:pt idx="4" formatCode="#,##0">
                  <c:v>10235</c:v>
                </c:pt>
                <c:pt idx="5" formatCode="#,##0">
                  <c:v>238900</c:v>
                </c:pt>
                <c:pt idx="6" formatCode="#,##0">
                  <c:v>253105</c:v>
                </c:pt>
                <c:pt idx="7" formatCode="#,##0">
                  <c:v>17548</c:v>
                </c:pt>
                <c:pt idx="8">
                  <c:v>254820</c:v>
                </c:pt>
                <c:pt idx="9">
                  <c:v>13317</c:v>
                </c:pt>
                <c:pt idx="10">
                  <c:v>0</c:v>
                </c:pt>
                <c:pt idx="11">
                  <c:v>0</c:v>
                </c:pt>
              </c:numCache>
            </c:numRef>
          </c:val>
          <c:smooth val="0"/>
          <c:extLst>
            <c:ext xmlns:c16="http://schemas.microsoft.com/office/drawing/2014/chart" uri="{C3380CC4-5D6E-409C-BE32-E72D297353CC}">
              <c16:uniqueId val="{00000000-F46B-4B5B-83FF-1E0BF712A80B}"/>
            </c:ext>
          </c:extLst>
        </c:ser>
        <c:ser>
          <c:idx val="1"/>
          <c:order val="1"/>
          <c:tx>
            <c:strRef>
              <c:f>Sayfa1!$C$1</c:f>
              <c:strCache>
                <c:ptCount val="1"/>
                <c:pt idx="0">
                  <c:v>SU 2025</c:v>
                </c:pt>
              </c:strCache>
            </c:strRef>
          </c:tx>
          <c:spPr>
            <a:ln w="28575" cap="rnd">
              <a:solidFill>
                <a:schemeClr val="dk1">
                  <a:tint val="55000"/>
                </a:schemeClr>
              </a:solidFill>
              <a:round/>
            </a:ln>
            <a:effectLst/>
          </c:spPr>
          <c:marker>
            <c:symbol val="none"/>
          </c:marker>
          <c:cat>
            <c:strRef>
              <c:f>Sayfa1!$A$2:$A$13</c:f>
              <c:strCache>
                <c:ptCount val="12"/>
                <c:pt idx="0">
                  <c:v>OCAK</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Sayfa1!$C$2:$C$13</c:f>
              <c:numCache>
                <c:formatCode>#,##0.00</c:formatCode>
                <c:ptCount val="12"/>
                <c:pt idx="0">
                  <c:v>1182</c:v>
                </c:pt>
                <c:pt idx="1">
                  <c:v>1323</c:v>
                </c:pt>
                <c:pt idx="2">
                  <c:v>3495</c:v>
                </c:pt>
                <c:pt idx="3" formatCode="#,##0">
                  <c:v>13934</c:v>
                </c:pt>
                <c:pt idx="4" formatCode="#,##0">
                  <c:v>13988</c:v>
                </c:pt>
                <c:pt idx="5" formatCode="#,##0">
                  <c:v>15758</c:v>
                </c:pt>
                <c:pt idx="6" formatCode="#,##0">
                  <c:v>20467</c:v>
                </c:pt>
                <c:pt idx="7" formatCode="#,##0">
                  <c:v>18057</c:v>
                </c:pt>
                <c:pt idx="8">
                  <c:v>22631</c:v>
                </c:pt>
                <c:pt idx="9">
                  <c:v>16873</c:v>
                </c:pt>
                <c:pt idx="10">
                  <c:v>13312</c:v>
                </c:pt>
                <c:pt idx="11" formatCode="General">
                  <c:v>574</c:v>
                </c:pt>
              </c:numCache>
            </c:numRef>
          </c:val>
          <c:smooth val="0"/>
          <c:extLst>
            <c:ext xmlns:c16="http://schemas.microsoft.com/office/drawing/2014/chart" uri="{C3380CC4-5D6E-409C-BE32-E72D297353CC}">
              <c16:uniqueId val="{00000001-F46B-4B5B-83FF-1E0BF712A80B}"/>
            </c:ext>
          </c:extLst>
        </c:ser>
        <c:dLbls>
          <c:showLegendKey val="0"/>
          <c:showVal val="0"/>
          <c:showCatName val="0"/>
          <c:showSerName val="0"/>
          <c:showPercent val="0"/>
          <c:showBubbleSize val="0"/>
        </c:dLbls>
        <c:smooth val="0"/>
        <c:axId val="550519048"/>
        <c:axId val="550517088"/>
      </c:lineChart>
      <c:catAx>
        <c:axId val="550519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tr-TR"/>
          </a:p>
        </c:txPr>
        <c:crossAx val="550517088"/>
        <c:crosses val="autoZero"/>
        <c:auto val="1"/>
        <c:lblAlgn val="ctr"/>
        <c:lblOffset val="100"/>
        <c:noMultiLvlLbl val="0"/>
      </c:catAx>
      <c:valAx>
        <c:axId val="5505170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tr-TR"/>
          </a:p>
        </c:txPr>
        <c:crossAx val="550519048"/>
        <c:crosses val="autoZero"/>
        <c:crossBetween val="between"/>
      </c:valAx>
      <c:spPr>
        <a:noFill/>
        <a:ln>
          <a:noFill/>
        </a:ln>
        <a:effectLst/>
      </c:spPr>
    </c:plotArea>
    <c:legend>
      <c:legendPos val="b"/>
      <c:layout>
        <c:manualLayout>
          <c:xMode val="edge"/>
          <c:yMode val="edge"/>
          <c:x val="7.0685448989150773E-3"/>
          <c:y val="0.90735141374634798"/>
          <c:w val="0.44211397208738895"/>
          <c:h val="9.2648668128699943E-2"/>
        </c:manualLayout>
      </c:layout>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chart>
  <c:spPr>
    <a:noFill/>
    <a:ln>
      <a:noFill/>
    </a:ln>
    <a:effectLst/>
  </c:spPr>
  <c:txPr>
    <a:bodyPr/>
    <a:lstStyle/>
    <a:p>
      <a:pPr>
        <a:defRPr sz="2800"/>
      </a:pPr>
      <a:endParaRPr lang="tr-T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2400" b="1" i="0" u="none" strike="noStrike" kern="1200" cap="none" spc="0" normalizeH="0" baseline="0">
                <a:solidFill>
                  <a:schemeClr val="tx1">
                    <a:lumMod val="65000"/>
                    <a:lumOff val="35000"/>
                  </a:schemeClr>
                </a:solidFill>
                <a:latin typeface="+mj-lt"/>
                <a:ea typeface="+mj-ea"/>
                <a:cs typeface="+mj-cs"/>
              </a:defRPr>
            </a:pPr>
            <a:r>
              <a:rPr lang="tr-TR" dirty="0"/>
              <a:t>2024-2025 ELEKTRİK TÜKETİMİ</a:t>
            </a:r>
          </a:p>
        </c:rich>
      </c:tx>
      <c:layout>
        <c:manualLayout>
          <c:xMode val="edge"/>
          <c:yMode val="edge"/>
          <c:x val="2.8292241944082853E-2"/>
          <c:y val="1.9523188397999412E-2"/>
        </c:manualLayout>
      </c:layout>
      <c:overlay val="0"/>
      <c:spPr>
        <a:noFill/>
        <a:ln>
          <a:noFill/>
        </a:ln>
        <a:effectLst/>
      </c:spPr>
      <c:txPr>
        <a:bodyPr rot="0" spcFirstLastPara="1" vertOverflow="ellipsis" vert="horz" wrap="square" anchor="ctr" anchorCtr="1"/>
        <a:lstStyle/>
        <a:p>
          <a:pPr>
            <a:defRPr sz="2400" b="1" i="0" u="none" strike="noStrike" kern="1200" cap="none" spc="0" normalizeH="0" baseline="0">
              <a:solidFill>
                <a:schemeClr val="tx1">
                  <a:lumMod val="65000"/>
                  <a:lumOff val="35000"/>
                </a:schemeClr>
              </a:solidFill>
              <a:latin typeface="+mj-lt"/>
              <a:ea typeface="+mj-ea"/>
              <a:cs typeface="+mj-cs"/>
            </a:defRPr>
          </a:pPr>
          <a:endParaRPr lang="tr-TR"/>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Sayfa1!$B$1</c:f>
              <c:strCache>
                <c:ptCount val="1"/>
                <c:pt idx="0">
                  <c:v>2024</c:v>
                </c:pt>
              </c:strCache>
            </c:strRef>
          </c:tx>
          <c:spPr>
            <a:solidFill>
              <a:schemeClr val="dk1">
                <a:tint val="88500"/>
              </a:schemeClr>
            </a:solidFill>
            <a:ln>
              <a:noFill/>
            </a:ln>
            <a:effectLst/>
            <a:sp3d/>
          </c:spPr>
          <c:invertIfNegative val="0"/>
          <c:dLbls>
            <c:spPr>
              <a:noFill/>
              <a:ln>
                <a:noFill/>
              </a:ln>
              <a:effectLst/>
            </c:spPr>
            <c:txPr>
              <a:bodyPr rot="-5400000" spcFirstLastPara="1" vertOverflow="ellipsis" wrap="square" anchor="ctr" anchorCtr="1"/>
              <a:lstStyle/>
              <a:p>
                <a:pPr>
                  <a:defRPr sz="2000" b="1" i="0" u="none" strike="noStrike" kern="1200" baseline="0">
                    <a:solidFill>
                      <a:schemeClr val="tx1">
                        <a:lumMod val="75000"/>
                        <a:lumOff val="25000"/>
                      </a:schemeClr>
                    </a:solidFill>
                    <a:latin typeface="+mn-lt"/>
                    <a:ea typeface="+mn-ea"/>
                    <a:cs typeface="+mn-cs"/>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Sayfa1!$A$2:$A$13</c:f>
              <c:strCache>
                <c:ptCount val="12"/>
                <c:pt idx="0">
                  <c:v>Ocak </c:v>
                </c:pt>
                <c:pt idx="1">
                  <c:v>Şubat </c:v>
                </c:pt>
                <c:pt idx="2">
                  <c:v>Mart</c:v>
                </c:pt>
                <c:pt idx="3">
                  <c:v>Nisan</c:v>
                </c:pt>
                <c:pt idx="4">
                  <c:v>Mayıs</c:v>
                </c:pt>
                <c:pt idx="5">
                  <c:v>Haziran</c:v>
                </c:pt>
                <c:pt idx="6">
                  <c:v>Temmuz</c:v>
                </c:pt>
                <c:pt idx="7">
                  <c:v>Ağustos</c:v>
                </c:pt>
                <c:pt idx="8">
                  <c:v>Eylül</c:v>
                </c:pt>
                <c:pt idx="9">
                  <c:v>Ekim</c:v>
                </c:pt>
                <c:pt idx="10">
                  <c:v>Kasım</c:v>
                </c:pt>
                <c:pt idx="11">
                  <c:v>Aralık</c:v>
                </c:pt>
              </c:strCache>
            </c:strRef>
          </c:cat>
          <c:val>
            <c:numRef>
              <c:f>Sayfa1!$B$2:$B$13</c:f>
              <c:numCache>
                <c:formatCode>#,##0.00</c:formatCode>
                <c:ptCount val="12"/>
                <c:pt idx="0">
                  <c:v>0</c:v>
                </c:pt>
                <c:pt idx="1">
                  <c:v>0</c:v>
                </c:pt>
                <c:pt idx="2">
                  <c:v>128942.1</c:v>
                </c:pt>
                <c:pt idx="3">
                  <c:v>464269.68</c:v>
                </c:pt>
                <c:pt idx="4">
                  <c:v>534920.4</c:v>
                </c:pt>
                <c:pt idx="5">
                  <c:v>996110.64</c:v>
                </c:pt>
                <c:pt idx="6">
                  <c:v>1166079.6000000001</c:v>
                </c:pt>
                <c:pt idx="7">
                  <c:v>1150647.1200000001</c:v>
                </c:pt>
                <c:pt idx="8">
                  <c:v>857480.4</c:v>
                </c:pt>
                <c:pt idx="9">
                  <c:v>211387.68</c:v>
                </c:pt>
                <c:pt idx="10">
                  <c:v>594468.07999999996</c:v>
                </c:pt>
              </c:numCache>
            </c:numRef>
          </c:val>
          <c:extLst>
            <c:ext xmlns:c16="http://schemas.microsoft.com/office/drawing/2014/chart" uri="{C3380CC4-5D6E-409C-BE32-E72D297353CC}">
              <c16:uniqueId val="{00000000-9706-4594-9928-F035049EFA2F}"/>
            </c:ext>
          </c:extLst>
        </c:ser>
        <c:ser>
          <c:idx val="1"/>
          <c:order val="1"/>
          <c:tx>
            <c:strRef>
              <c:f>Sayfa1!$C$1</c:f>
              <c:strCache>
                <c:ptCount val="1"/>
                <c:pt idx="0">
                  <c:v>2025</c:v>
                </c:pt>
              </c:strCache>
            </c:strRef>
          </c:tx>
          <c:spPr>
            <a:solidFill>
              <a:schemeClr val="dk1">
                <a:tint val="55000"/>
              </a:schemeClr>
            </a:solidFill>
            <a:ln>
              <a:noFill/>
            </a:ln>
            <a:effectLst/>
            <a:sp3d/>
          </c:spPr>
          <c:invertIfNegative val="0"/>
          <c:dLbls>
            <c:dLbl>
              <c:idx val="3"/>
              <c:layout>
                <c:manualLayout>
                  <c:x val="1.6339869281045752E-3"/>
                  <c:y val="-1.0721123712016836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706-4594-9928-F035049EFA2F}"/>
                </c:ext>
              </c:extLst>
            </c:dLbl>
            <c:dLbl>
              <c:idx val="5"/>
              <c:layout>
                <c:manualLayout>
                  <c:x val="4.9019607843137254E-3"/>
                  <c:y val="-7.309941520467835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706-4594-9928-F035049EFA2F}"/>
                </c:ext>
              </c:extLst>
            </c:dLbl>
            <c:dLbl>
              <c:idx val="6"/>
              <c:layout>
                <c:manualLayout>
                  <c:x val="5.7189542483659529E-3"/>
                  <c:y val="-1.0721123712016836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706-4594-9928-F035049EFA2F}"/>
                </c:ext>
              </c:extLst>
            </c:dLbl>
            <c:dLbl>
              <c:idx val="7"/>
              <c:layout>
                <c:manualLayout>
                  <c:x val="4.0849673202614381E-3"/>
                  <c:y val="-1.0721123712016836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706-4594-9928-F035049EFA2F}"/>
                </c:ext>
              </c:extLst>
            </c:dLbl>
            <c:dLbl>
              <c:idx val="8"/>
              <c:layout>
                <c:manualLayout>
                  <c:x val="3.2679738562090303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706-4594-9928-F035049EFA2F}"/>
                </c:ext>
              </c:extLst>
            </c:dLbl>
            <c:dLbl>
              <c:idx val="9"/>
              <c:layout>
                <c:manualLayout>
                  <c:x val="3.2679738562090303E-3"/>
                  <c:y val="1.461988304093460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706-4594-9928-F035049EFA2F}"/>
                </c:ext>
              </c:extLst>
            </c:dLbl>
            <c:dLbl>
              <c:idx val="10"/>
              <c:layout>
                <c:manualLayout>
                  <c:x val="2.4509803921568627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706-4594-9928-F035049EFA2F}"/>
                </c:ext>
              </c:extLst>
            </c:dLbl>
            <c:spPr>
              <a:noFill/>
              <a:ln>
                <a:noFill/>
              </a:ln>
              <a:effectLst/>
            </c:spPr>
            <c:txPr>
              <a:bodyPr rot="-5400000" spcFirstLastPara="1" vertOverflow="ellipsis" wrap="square" anchor="ctr" anchorCtr="1"/>
              <a:lstStyle/>
              <a:p>
                <a:pPr>
                  <a:defRPr sz="2000" b="1" i="0" u="none" strike="noStrike" kern="1200" baseline="0">
                    <a:solidFill>
                      <a:schemeClr val="tx1">
                        <a:lumMod val="75000"/>
                        <a:lumOff val="25000"/>
                      </a:schemeClr>
                    </a:solidFill>
                    <a:latin typeface="+mn-lt"/>
                    <a:ea typeface="+mn-ea"/>
                    <a:cs typeface="+mn-cs"/>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Sayfa1!$A$2:$A$13</c:f>
              <c:strCache>
                <c:ptCount val="12"/>
                <c:pt idx="0">
                  <c:v>Ocak </c:v>
                </c:pt>
                <c:pt idx="1">
                  <c:v>Şubat </c:v>
                </c:pt>
                <c:pt idx="2">
                  <c:v>Mart</c:v>
                </c:pt>
                <c:pt idx="3">
                  <c:v>Nisan</c:v>
                </c:pt>
                <c:pt idx="4">
                  <c:v>Mayıs</c:v>
                </c:pt>
                <c:pt idx="5">
                  <c:v>Haziran</c:v>
                </c:pt>
                <c:pt idx="6">
                  <c:v>Temmuz</c:v>
                </c:pt>
                <c:pt idx="7">
                  <c:v>Ağustos</c:v>
                </c:pt>
                <c:pt idx="8">
                  <c:v>Eylül</c:v>
                </c:pt>
                <c:pt idx="9">
                  <c:v>Ekim</c:v>
                </c:pt>
                <c:pt idx="10">
                  <c:v>Kasım</c:v>
                </c:pt>
                <c:pt idx="11">
                  <c:v>Aralık</c:v>
                </c:pt>
              </c:strCache>
            </c:strRef>
          </c:cat>
          <c:val>
            <c:numRef>
              <c:f>Sayfa1!$C$2:$C$13</c:f>
              <c:numCache>
                <c:formatCode>#,##0.00\ [$kWh]</c:formatCode>
                <c:ptCount val="12"/>
                <c:pt idx="0">
                  <c:v>56861</c:v>
                </c:pt>
                <c:pt idx="1">
                  <c:v>79246.16</c:v>
                </c:pt>
                <c:pt idx="2">
                  <c:v>220426</c:v>
                </c:pt>
                <c:pt idx="3">
                  <c:v>513810</c:v>
                </c:pt>
                <c:pt idx="4">
                  <c:v>550143.43999999994</c:v>
                </c:pt>
                <c:pt idx="5">
                  <c:v>737354.23999999999</c:v>
                </c:pt>
                <c:pt idx="6">
                  <c:v>978052.32</c:v>
                </c:pt>
                <c:pt idx="7">
                  <c:v>1018175.76</c:v>
                </c:pt>
                <c:pt idx="8">
                  <c:v>780570</c:v>
                </c:pt>
                <c:pt idx="9">
                  <c:v>570190.31999999995</c:v>
                </c:pt>
                <c:pt idx="10">
                  <c:v>154697.76</c:v>
                </c:pt>
              </c:numCache>
            </c:numRef>
          </c:val>
          <c:extLst>
            <c:ext xmlns:c16="http://schemas.microsoft.com/office/drawing/2014/chart" uri="{C3380CC4-5D6E-409C-BE32-E72D297353CC}">
              <c16:uniqueId val="{00000008-9706-4594-9928-F035049EFA2F}"/>
            </c:ext>
          </c:extLst>
        </c:ser>
        <c:dLbls>
          <c:showLegendKey val="0"/>
          <c:showVal val="1"/>
          <c:showCatName val="0"/>
          <c:showSerName val="0"/>
          <c:showPercent val="0"/>
          <c:showBubbleSize val="0"/>
        </c:dLbls>
        <c:gapWidth val="150"/>
        <c:shape val="box"/>
        <c:axId val="550519440"/>
        <c:axId val="550519832"/>
        <c:axId val="0"/>
      </c:bar3DChart>
      <c:catAx>
        <c:axId val="5505194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1" i="0" u="none" strike="noStrike" kern="1200" cap="none" spc="0" normalizeH="0" baseline="0">
                <a:solidFill>
                  <a:schemeClr val="tx1">
                    <a:lumMod val="65000"/>
                    <a:lumOff val="35000"/>
                  </a:schemeClr>
                </a:solidFill>
                <a:latin typeface="+mn-lt"/>
                <a:ea typeface="+mn-ea"/>
                <a:cs typeface="+mn-cs"/>
              </a:defRPr>
            </a:pPr>
            <a:endParaRPr lang="tr-TR"/>
          </a:p>
        </c:txPr>
        <c:crossAx val="550519832"/>
        <c:crosses val="autoZero"/>
        <c:auto val="1"/>
        <c:lblAlgn val="ctr"/>
        <c:lblOffset val="100"/>
        <c:noMultiLvlLbl val="1"/>
      </c:catAx>
      <c:valAx>
        <c:axId val="550519832"/>
        <c:scaling>
          <c:orientation val="minMax"/>
        </c:scaling>
        <c:delete val="1"/>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00" sourceLinked="1"/>
        <c:majorTickMark val="none"/>
        <c:minorTickMark val="none"/>
        <c:tickLblPos val="nextTo"/>
        <c:crossAx val="5505194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chart>
  <c:spPr>
    <a:noFill/>
    <a:ln>
      <a:noFill/>
    </a:ln>
    <a:effectLst/>
  </c:spPr>
  <c:txPr>
    <a:bodyPr/>
    <a:lstStyle/>
    <a:p>
      <a:pPr>
        <a:defRPr sz="2000" b="1"/>
      </a:pPr>
      <a:endParaRPr lang="tr-T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lineChart>
        <c:grouping val="standard"/>
        <c:varyColors val="0"/>
        <c:ser>
          <c:idx val="0"/>
          <c:order val="0"/>
          <c:tx>
            <c:strRef>
              <c:f>Sayfa1!$B$1</c:f>
              <c:strCache>
                <c:ptCount val="1"/>
                <c:pt idx="0">
                  <c:v>ELEKTRİK 2024</c:v>
                </c:pt>
              </c:strCache>
            </c:strRef>
          </c:tx>
          <c:spPr>
            <a:ln w="34925" cap="rnd">
              <a:solidFill>
                <a:schemeClr val="accent3">
                  <a:shade val="65000"/>
                </a:schemeClr>
              </a:solidFill>
              <a:round/>
            </a:ln>
            <a:effectLst>
              <a:outerShdw blurRad="44450" dist="25400" dir="2700000" algn="br" rotWithShape="0">
                <a:srgbClr val="000000">
                  <a:alpha val="60000"/>
                </a:srgbClr>
              </a:outerShdw>
            </a:effectLst>
          </c:spPr>
          <c:marker>
            <c:symbol val="none"/>
          </c:marker>
          <c:cat>
            <c:strRef>
              <c:f>Sayfa1!$A$2:$A$14</c:f>
              <c:strCache>
                <c:ptCount val="12"/>
                <c:pt idx="0">
                  <c:v>OCAK</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Sayfa1!$B$2:$B$14</c:f>
              <c:numCache>
                <c:formatCode>#,##0.00</c:formatCode>
                <c:ptCount val="13"/>
                <c:pt idx="0">
                  <c:v>0</c:v>
                </c:pt>
                <c:pt idx="1">
                  <c:v>0</c:v>
                </c:pt>
                <c:pt idx="2">
                  <c:v>128942.1</c:v>
                </c:pt>
                <c:pt idx="3">
                  <c:v>464269.68</c:v>
                </c:pt>
                <c:pt idx="4">
                  <c:v>534920.4</c:v>
                </c:pt>
                <c:pt idx="5">
                  <c:v>996110.64</c:v>
                </c:pt>
                <c:pt idx="6">
                  <c:v>1166079.6000000001</c:v>
                </c:pt>
                <c:pt idx="7">
                  <c:v>1150647.1200000001</c:v>
                </c:pt>
                <c:pt idx="8">
                  <c:v>857480.4</c:v>
                </c:pt>
                <c:pt idx="9">
                  <c:v>211387.68</c:v>
                </c:pt>
                <c:pt idx="10">
                  <c:v>594468.07999999996</c:v>
                </c:pt>
                <c:pt idx="11">
                  <c:v>0</c:v>
                </c:pt>
              </c:numCache>
            </c:numRef>
          </c:val>
          <c:smooth val="0"/>
          <c:extLst>
            <c:ext xmlns:c16="http://schemas.microsoft.com/office/drawing/2014/chart" uri="{C3380CC4-5D6E-409C-BE32-E72D297353CC}">
              <c16:uniqueId val="{00000000-90BF-402F-A6D8-46232EC32FEC}"/>
            </c:ext>
          </c:extLst>
        </c:ser>
        <c:ser>
          <c:idx val="2"/>
          <c:order val="1"/>
          <c:tx>
            <c:strRef>
              <c:f>Sayfa1!$C$1</c:f>
              <c:strCache>
                <c:ptCount val="1"/>
                <c:pt idx="0">
                  <c:v>ELEKTRİK 2025</c:v>
                </c:pt>
              </c:strCache>
            </c:strRef>
          </c:tx>
          <c:spPr>
            <a:ln w="34925" cap="rnd">
              <a:solidFill>
                <a:schemeClr val="accent3">
                  <a:tint val="65000"/>
                </a:schemeClr>
              </a:solidFill>
              <a:round/>
            </a:ln>
            <a:effectLst>
              <a:outerShdw blurRad="44450" dist="25400" dir="2700000" algn="br" rotWithShape="0">
                <a:srgbClr val="000000">
                  <a:alpha val="60000"/>
                </a:srgbClr>
              </a:outerShdw>
            </a:effectLst>
          </c:spPr>
          <c:marker>
            <c:symbol val="none"/>
          </c:marker>
          <c:cat>
            <c:strRef>
              <c:f>Sayfa1!$A$2:$A$14</c:f>
              <c:strCache>
                <c:ptCount val="12"/>
                <c:pt idx="0">
                  <c:v>OCAK</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Sayfa1!$C$2:$C$14</c:f>
              <c:numCache>
                <c:formatCode>#,##0.00\ [$kWh]</c:formatCode>
                <c:ptCount val="13"/>
                <c:pt idx="0">
                  <c:v>56861</c:v>
                </c:pt>
                <c:pt idx="1">
                  <c:v>79246.16</c:v>
                </c:pt>
                <c:pt idx="2">
                  <c:v>220426</c:v>
                </c:pt>
                <c:pt idx="3">
                  <c:v>513810</c:v>
                </c:pt>
                <c:pt idx="4">
                  <c:v>550143.43999999994</c:v>
                </c:pt>
                <c:pt idx="5">
                  <c:v>737354.23999999999</c:v>
                </c:pt>
                <c:pt idx="6">
                  <c:v>978052.32</c:v>
                </c:pt>
                <c:pt idx="7">
                  <c:v>1018175.76</c:v>
                </c:pt>
                <c:pt idx="8">
                  <c:v>780570</c:v>
                </c:pt>
                <c:pt idx="9">
                  <c:v>570190.31999999995</c:v>
                </c:pt>
                <c:pt idx="10">
                  <c:v>154697.76</c:v>
                </c:pt>
                <c:pt idx="11" formatCode="#,##0.00">
                  <c:v>0</c:v>
                </c:pt>
              </c:numCache>
            </c:numRef>
          </c:val>
          <c:smooth val="0"/>
          <c:extLst>
            <c:ext xmlns:c16="http://schemas.microsoft.com/office/drawing/2014/chart" uri="{C3380CC4-5D6E-409C-BE32-E72D297353CC}">
              <c16:uniqueId val="{00000001-90BF-402F-A6D8-46232EC32FEC}"/>
            </c:ext>
          </c:extLst>
        </c:ser>
        <c:dLbls>
          <c:showLegendKey val="0"/>
          <c:showVal val="0"/>
          <c:showCatName val="0"/>
          <c:showSerName val="0"/>
          <c:showPercent val="0"/>
          <c:showBubbleSize val="0"/>
        </c:dLbls>
        <c:smooth val="0"/>
        <c:axId val="550511992"/>
        <c:axId val="550513952"/>
      </c:lineChart>
      <c:catAx>
        <c:axId val="550511992"/>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tr-TR"/>
          </a:p>
        </c:txPr>
        <c:crossAx val="550513952"/>
        <c:crosses val="autoZero"/>
        <c:auto val="1"/>
        <c:lblAlgn val="ctr"/>
        <c:lblOffset val="100"/>
        <c:noMultiLvlLbl val="0"/>
      </c:catAx>
      <c:valAx>
        <c:axId val="55051395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tr-TR"/>
          </a:p>
        </c:txPr>
        <c:crossAx val="5505119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chart>
  <c:spPr>
    <a:noFill/>
    <a:ln>
      <a:noFill/>
    </a:ln>
    <a:effectLst/>
  </c:spPr>
  <c:txPr>
    <a:bodyPr/>
    <a:lstStyle/>
    <a:p>
      <a:pPr>
        <a:defRPr/>
      </a:pPr>
      <a:endParaRPr lang="tr-T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2400" b="1" i="0" u="none" strike="noStrike" kern="1200" cap="none" spc="0" normalizeH="0" baseline="0">
                <a:solidFill>
                  <a:schemeClr val="tx1">
                    <a:lumMod val="65000"/>
                    <a:lumOff val="35000"/>
                  </a:schemeClr>
                </a:solidFill>
                <a:latin typeface="+mj-lt"/>
                <a:ea typeface="+mj-ea"/>
                <a:cs typeface="+mj-cs"/>
              </a:defRPr>
            </a:pPr>
            <a:r>
              <a:rPr lang="tr-TR" dirty="0"/>
              <a:t>2024-2025</a:t>
            </a:r>
            <a:r>
              <a:rPr lang="tr-TR" baseline="0" dirty="0"/>
              <a:t> </a:t>
            </a:r>
            <a:r>
              <a:rPr lang="tr-TR" dirty="0"/>
              <a:t>LNG TÜKETİMİ</a:t>
            </a:r>
          </a:p>
        </c:rich>
      </c:tx>
      <c:layout>
        <c:manualLayout>
          <c:xMode val="edge"/>
          <c:yMode val="edge"/>
          <c:x val="0.21809258756448546"/>
          <c:y val="0"/>
        </c:manualLayout>
      </c:layout>
      <c:overlay val="0"/>
      <c:spPr>
        <a:noFill/>
        <a:ln>
          <a:noFill/>
        </a:ln>
        <a:effectLst/>
      </c:spPr>
      <c:txPr>
        <a:bodyPr rot="0" spcFirstLastPara="1" vertOverflow="ellipsis" vert="horz" wrap="square" anchor="ctr" anchorCtr="1"/>
        <a:lstStyle/>
        <a:p>
          <a:pPr>
            <a:defRPr sz="2400" b="1" i="0" u="none" strike="noStrike" kern="1200" cap="none" spc="0" normalizeH="0" baseline="0">
              <a:solidFill>
                <a:schemeClr val="tx1">
                  <a:lumMod val="65000"/>
                  <a:lumOff val="35000"/>
                </a:schemeClr>
              </a:solidFill>
              <a:latin typeface="+mj-lt"/>
              <a:ea typeface="+mj-ea"/>
              <a:cs typeface="+mj-cs"/>
            </a:defRPr>
          </a:pPr>
          <a:endParaRPr lang="tr-TR"/>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Sayfa1!$B$1</c:f>
              <c:strCache>
                <c:ptCount val="1"/>
                <c:pt idx="0">
                  <c:v>2024</c:v>
                </c:pt>
              </c:strCache>
            </c:strRef>
          </c:tx>
          <c:spPr>
            <a:solidFill>
              <a:schemeClr val="dk1">
                <a:tint val="88500"/>
              </a:schemeClr>
            </a:solidFill>
            <a:ln>
              <a:noFill/>
            </a:ln>
            <a:effectLst/>
            <a:sp3d/>
          </c:spPr>
          <c:invertIfNegative val="0"/>
          <c:dLbls>
            <c:spPr>
              <a:noFill/>
              <a:ln>
                <a:noFill/>
              </a:ln>
              <a:effectLst/>
            </c:spPr>
            <c:txPr>
              <a:bodyPr rot="-5400000" spcFirstLastPara="1" vertOverflow="ellipsis" wrap="square" anchor="ctr" anchorCtr="1"/>
              <a:lstStyle/>
              <a:p>
                <a:pPr>
                  <a:defRPr sz="2000" b="1" i="0" u="none" strike="noStrike" kern="1200" baseline="0">
                    <a:solidFill>
                      <a:schemeClr val="tx1">
                        <a:lumMod val="75000"/>
                        <a:lumOff val="25000"/>
                      </a:schemeClr>
                    </a:solidFill>
                    <a:latin typeface="+mn-lt"/>
                    <a:ea typeface="+mn-ea"/>
                    <a:cs typeface="+mn-cs"/>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Sayfa1!$A$2:$A$13</c:f>
              <c:strCache>
                <c:ptCount val="12"/>
                <c:pt idx="0">
                  <c:v>OCAK</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Sayfa1!$B$2:$B$13</c:f>
              <c:numCache>
                <c:formatCode>General</c:formatCode>
                <c:ptCount val="12"/>
                <c:pt idx="0">
                  <c:v>0</c:v>
                </c:pt>
                <c:pt idx="1">
                  <c:v>0</c:v>
                </c:pt>
                <c:pt idx="2">
                  <c:v>0</c:v>
                </c:pt>
                <c:pt idx="3">
                  <c:v>8891</c:v>
                </c:pt>
                <c:pt idx="4">
                  <c:v>13288</c:v>
                </c:pt>
                <c:pt idx="5">
                  <c:v>12840</c:v>
                </c:pt>
                <c:pt idx="6">
                  <c:v>13292</c:v>
                </c:pt>
                <c:pt idx="7">
                  <c:v>11909</c:v>
                </c:pt>
                <c:pt idx="8">
                  <c:v>11578</c:v>
                </c:pt>
                <c:pt idx="9">
                  <c:v>23853</c:v>
                </c:pt>
                <c:pt idx="10">
                  <c:v>0</c:v>
                </c:pt>
                <c:pt idx="11">
                  <c:v>0</c:v>
                </c:pt>
              </c:numCache>
            </c:numRef>
          </c:val>
          <c:extLst>
            <c:ext xmlns:c16="http://schemas.microsoft.com/office/drawing/2014/chart" uri="{C3380CC4-5D6E-409C-BE32-E72D297353CC}">
              <c16:uniqueId val="{00000000-BA47-433C-8C72-2EC19117279B}"/>
            </c:ext>
          </c:extLst>
        </c:ser>
        <c:ser>
          <c:idx val="1"/>
          <c:order val="1"/>
          <c:tx>
            <c:strRef>
              <c:f>Sayfa1!$C$1</c:f>
              <c:strCache>
                <c:ptCount val="1"/>
                <c:pt idx="0">
                  <c:v>2025</c:v>
                </c:pt>
              </c:strCache>
            </c:strRef>
          </c:tx>
          <c:spPr>
            <a:solidFill>
              <a:schemeClr val="dk1">
                <a:tint val="55000"/>
              </a:schemeClr>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lumMod val="75000"/>
                        <a:lumOff val="25000"/>
                      </a:schemeClr>
                    </a:solidFill>
                    <a:latin typeface="+mn-lt"/>
                    <a:ea typeface="+mn-ea"/>
                    <a:cs typeface="+mn-cs"/>
                  </a:defRPr>
                </a:pPr>
                <a:endParaRPr lang="tr-T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Sayfa1!$A$2:$A$13</c:f>
              <c:strCache>
                <c:ptCount val="12"/>
                <c:pt idx="0">
                  <c:v>OCAK</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Sayfa1!$C$2:$C$13</c:f>
              <c:numCache>
                <c:formatCode>General</c:formatCode>
                <c:ptCount val="12"/>
                <c:pt idx="0">
                  <c:v>751</c:v>
                </c:pt>
                <c:pt idx="1">
                  <c:v>130</c:v>
                </c:pt>
                <c:pt idx="2">
                  <c:v>4982</c:v>
                </c:pt>
                <c:pt idx="3">
                  <c:v>7062</c:v>
                </c:pt>
                <c:pt idx="4">
                  <c:v>5732</c:v>
                </c:pt>
                <c:pt idx="5">
                  <c:v>7156</c:v>
                </c:pt>
                <c:pt idx="6">
                  <c:v>8799</c:v>
                </c:pt>
                <c:pt idx="7">
                  <c:v>8063</c:v>
                </c:pt>
                <c:pt idx="8">
                  <c:v>7610</c:v>
                </c:pt>
                <c:pt idx="9">
                  <c:v>13696</c:v>
                </c:pt>
                <c:pt idx="10">
                  <c:v>17667</c:v>
                </c:pt>
              </c:numCache>
            </c:numRef>
          </c:val>
          <c:extLst>
            <c:ext xmlns:c16="http://schemas.microsoft.com/office/drawing/2014/chart" uri="{C3380CC4-5D6E-409C-BE32-E72D297353CC}">
              <c16:uniqueId val="{00000000-7F6E-463F-AC5C-DEC07CF65EFF}"/>
            </c:ext>
          </c:extLst>
        </c:ser>
        <c:dLbls>
          <c:showLegendKey val="0"/>
          <c:showVal val="1"/>
          <c:showCatName val="0"/>
          <c:showSerName val="0"/>
          <c:showPercent val="0"/>
          <c:showBubbleSize val="0"/>
        </c:dLbls>
        <c:gapWidth val="150"/>
        <c:shape val="box"/>
        <c:axId val="550527280"/>
        <c:axId val="550527672"/>
        <c:axId val="0"/>
      </c:bar3DChart>
      <c:catAx>
        <c:axId val="5505272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1" i="0" u="none" strike="noStrike" kern="1200" cap="none" spc="0" normalizeH="0" baseline="0">
                <a:solidFill>
                  <a:schemeClr val="tx1">
                    <a:lumMod val="65000"/>
                    <a:lumOff val="35000"/>
                  </a:schemeClr>
                </a:solidFill>
                <a:latin typeface="+mn-lt"/>
                <a:ea typeface="+mn-ea"/>
                <a:cs typeface="+mn-cs"/>
              </a:defRPr>
            </a:pPr>
            <a:endParaRPr lang="tr-TR"/>
          </a:p>
        </c:txPr>
        <c:crossAx val="550527672"/>
        <c:crosses val="autoZero"/>
        <c:auto val="1"/>
        <c:lblAlgn val="ctr"/>
        <c:lblOffset val="100"/>
        <c:noMultiLvlLbl val="1"/>
      </c:catAx>
      <c:valAx>
        <c:axId val="550527672"/>
        <c:scaling>
          <c:orientation val="minMax"/>
        </c:scaling>
        <c:delete val="1"/>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crossAx val="55052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chart>
  <c:spPr>
    <a:noFill/>
    <a:ln>
      <a:noFill/>
    </a:ln>
    <a:effectLst/>
  </c:spPr>
  <c:txPr>
    <a:bodyPr/>
    <a:lstStyle/>
    <a:p>
      <a:pPr>
        <a:defRPr sz="2000" b="1"/>
      </a:pPr>
      <a:endParaRPr lang="tr-T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Sayfa1!$B$1</c:f>
              <c:strCache>
                <c:ptCount val="1"/>
                <c:pt idx="0">
                  <c:v>LNG 2024</c:v>
                </c:pt>
              </c:strCache>
            </c:strRef>
          </c:tx>
          <c:spPr>
            <a:ln w="28575" cap="rnd">
              <a:solidFill>
                <a:schemeClr val="dk1">
                  <a:tint val="88500"/>
                </a:schemeClr>
              </a:solidFill>
              <a:round/>
            </a:ln>
            <a:effectLst/>
          </c:spPr>
          <c:marker>
            <c:symbol val="none"/>
          </c:marker>
          <c:cat>
            <c:strRef>
              <c:f>Sayfa1!$A$2:$A$13</c:f>
              <c:strCache>
                <c:ptCount val="12"/>
                <c:pt idx="0">
                  <c:v>OCAK</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Sayfa1!$B$2:$B$13</c:f>
              <c:numCache>
                <c:formatCode>General</c:formatCode>
                <c:ptCount val="12"/>
                <c:pt idx="0">
                  <c:v>0</c:v>
                </c:pt>
                <c:pt idx="1">
                  <c:v>0</c:v>
                </c:pt>
                <c:pt idx="2">
                  <c:v>0</c:v>
                </c:pt>
                <c:pt idx="3">
                  <c:v>8891</c:v>
                </c:pt>
                <c:pt idx="4">
                  <c:v>13288</c:v>
                </c:pt>
                <c:pt idx="5">
                  <c:v>12840</c:v>
                </c:pt>
                <c:pt idx="6">
                  <c:v>13292</c:v>
                </c:pt>
                <c:pt idx="7">
                  <c:v>11909</c:v>
                </c:pt>
                <c:pt idx="8">
                  <c:v>11578</c:v>
                </c:pt>
                <c:pt idx="9">
                  <c:v>23853</c:v>
                </c:pt>
                <c:pt idx="10">
                  <c:v>0</c:v>
                </c:pt>
                <c:pt idx="11">
                  <c:v>0</c:v>
                </c:pt>
              </c:numCache>
            </c:numRef>
          </c:val>
          <c:smooth val="0"/>
          <c:extLst>
            <c:ext xmlns:c16="http://schemas.microsoft.com/office/drawing/2014/chart" uri="{C3380CC4-5D6E-409C-BE32-E72D297353CC}">
              <c16:uniqueId val="{00000000-992B-4DC3-B604-7D2E0C8AA660}"/>
            </c:ext>
          </c:extLst>
        </c:ser>
        <c:ser>
          <c:idx val="1"/>
          <c:order val="1"/>
          <c:tx>
            <c:strRef>
              <c:f>Sayfa1!$C$1</c:f>
              <c:strCache>
                <c:ptCount val="1"/>
                <c:pt idx="0">
                  <c:v>LNG 2025</c:v>
                </c:pt>
              </c:strCache>
            </c:strRef>
          </c:tx>
          <c:spPr>
            <a:ln w="28575" cap="rnd">
              <a:solidFill>
                <a:schemeClr val="dk1">
                  <a:tint val="55000"/>
                </a:schemeClr>
              </a:solidFill>
              <a:round/>
            </a:ln>
            <a:effectLst/>
          </c:spPr>
          <c:marker>
            <c:symbol val="none"/>
          </c:marker>
          <c:cat>
            <c:strRef>
              <c:f>Sayfa1!$A$2:$A$13</c:f>
              <c:strCache>
                <c:ptCount val="12"/>
                <c:pt idx="0">
                  <c:v>OCAK</c:v>
                </c:pt>
                <c:pt idx="1">
                  <c:v>ŞUBAT</c:v>
                </c:pt>
                <c:pt idx="2">
                  <c:v>MART</c:v>
                </c:pt>
                <c:pt idx="3">
                  <c:v>NİSAN</c:v>
                </c:pt>
                <c:pt idx="4">
                  <c:v>MAYIS</c:v>
                </c:pt>
                <c:pt idx="5">
                  <c:v>HAZİRAN</c:v>
                </c:pt>
                <c:pt idx="6">
                  <c:v>TEMMUZ</c:v>
                </c:pt>
                <c:pt idx="7">
                  <c:v>AĞUSTOS</c:v>
                </c:pt>
                <c:pt idx="8">
                  <c:v>EYLÜL</c:v>
                </c:pt>
                <c:pt idx="9">
                  <c:v>EKİM</c:v>
                </c:pt>
                <c:pt idx="10">
                  <c:v>KASIM</c:v>
                </c:pt>
                <c:pt idx="11">
                  <c:v>ARALIK</c:v>
                </c:pt>
              </c:strCache>
            </c:strRef>
          </c:cat>
          <c:val>
            <c:numRef>
              <c:f>Sayfa1!$C$2:$C$13</c:f>
              <c:numCache>
                <c:formatCode>General</c:formatCode>
                <c:ptCount val="12"/>
                <c:pt idx="0">
                  <c:v>751</c:v>
                </c:pt>
                <c:pt idx="1">
                  <c:v>130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1-992B-4DC3-B604-7D2E0C8AA660}"/>
            </c:ext>
          </c:extLst>
        </c:ser>
        <c:dLbls>
          <c:showLegendKey val="0"/>
          <c:showVal val="0"/>
          <c:showCatName val="0"/>
          <c:showSerName val="0"/>
          <c:showPercent val="0"/>
          <c:showBubbleSize val="0"/>
        </c:dLbls>
        <c:smooth val="0"/>
        <c:axId val="550523360"/>
        <c:axId val="550526888"/>
      </c:lineChart>
      <c:catAx>
        <c:axId val="550523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tr-TR"/>
          </a:p>
        </c:txPr>
        <c:crossAx val="550526888"/>
        <c:crosses val="autoZero"/>
        <c:auto val="1"/>
        <c:lblAlgn val="ctr"/>
        <c:lblOffset val="100"/>
        <c:noMultiLvlLbl val="0"/>
      </c:catAx>
      <c:valAx>
        <c:axId val="550526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tr-TR"/>
          </a:p>
        </c:txPr>
        <c:crossAx val="5505233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chart>
  <c:spPr>
    <a:noFill/>
    <a:ln>
      <a:noFill/>
    </a:ln>
    <a:effectLst/>
  </c:spPr>
  <c:txPr>
    <a:bodyPr/>
    <a:lstStyle/>
    <a:p>
      <a:pPr>
        <a:defRPr sz="2800"/>
      </a:pPr>
      <a:endParaRPr lang="tr-T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tr-TR" sz="2400" dirty="0"/>
              <a:t>ATIK</a:t>
            </a:r>
            <a:r>
              <a:rPr lang="tr-TR" sz="2400" baseline="0" dirty="0"/>
              <a:t> </a:t>
            </a:r>
            <a:r>
              <a:rPr lang="tr-TR" sz="2400" dirty="0"/>
              <a:t>KULLANIM MİKTARLARI(KG) 2024</a:t>
            </a:r>
          </a:p>
        </c:rich>
      </c:tx>
      <c:layout>
        <c:manualLayout>
          <c:xMode val="edge"/>
          <c:yMode val="edge"/>
          <c:x val="0.21684075056916227"/>
          <c:y val="9.1625109361329823E-2"/>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title>
    <c:autoTitleDeleted val="0"/>
    <c:plotArea>
      <c:layout>
        <c:manualLayout>
          <c:layoutTarget val="inner"/>
          <c:xMode val="edge"/>
          <c:yMode val="edge"/>
          <c:x val="4.580591987735147E-2"/>
          <c:y val="0.26195126453075224"/>
          <c:w val="0.76916665152012154"/>
          <c:h val="0.59000909144276004"/>
        </c:manualLayout>
      </c:layout>
      <c:barChart>
        <c:barDir val="col"/>
        <c:grouping val="clustered"/>
        <c:varyColors val="0"/>
        <c:ser>
          <c:idx val="0"/>
          <c:order val="0"/>
          <c:tx>
            <c:strRef>
              <c:f>Sayfa1!$B$1</c:f>
              <c:strCache>
                <c:ptCount val="1"/>
                <c:pt idx="0">
                  <c:v>KAĞIT</c:v>
                </c:pt>
              </c:strCache>
            </c:strRef>
          </c:tx>
          <c:spPr>
            <a:solidFill>
              <a:schemeClr val="tx1"/>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5400000" spcFirstLastPara="1" vertOverflow="ellipsis" wrap="square" anchor="ctr" anchorCtr="1"/>
              <a:lstStyle/>
              <a:p>
                <a:pPr>
                  <a:defRPr sz="2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Sayfa1!$A$2:$A$10</c:f>
              <c:strCache>
                <c:ptCount val="8"/>
                <c:pt idx="0">
                  <c:v>Nis.24</c:v>
                </c:pt>
                <c:pt idx="1">
                  <c:v>May.24</c:v>
                </c:pt>
                <c:pt idx="2">
                  <c:v>Haz.24</c:v>
                </c:pt>
                <c:pt idx="3">
                  <c:v>Tem.24</c:v>
                </c:pt>
                <c:pt idx="4">
                  <c:v>Ağu.24</c:v>
                </c:pt>
                <c:pt idx="5">
                  <c:v>Eyl.24</c:v>
                </c:pt>
                <c:pt idx="6">
                  <c:v>Eki.24</c:v>
                </c:pt>
                <c:pt idx="7">
                  <c:v>Kas.24</c:v>
                </c:pt>
              </c:strCache>
            </c:strRef>
          </c:cat>
          <c:val>
            <c:numRef>
              <c:f>Sayfa1!$B$2:$B$10</c:f>
              <c:numCache>
                <c:formatCode>General</c:formatCode>
                <c:ptCount val="8"/>
                <c:pt idx="0">
                  <c:v>740</c:v>
                </c:pt>
                <c:pt idx="1">
                  <c:v>880</c:v>
                </c:pt>
                <c:pt idx="2">
                  <c:v>960</c:v>
                </c:pt>
                <c:pt idx="3">
                  <c:v>1120</c:v>
                </c:pt>
                <c:pt idx="4">
                  <c:v>1280</c:v>
                </c:pt>
                <c:pt idx="5">
                  <c:v>1180</c:v>
                </c:pt>
                <c:pt idx="6">
                  <c:v>1060</c:v>
                </c:pt>
                <c:pt idx="7">
                  <c:v>480</c:v>
                </c:pt>
              </c:numCache>
            </c:numRef>
          </c:val>
          <c:extLst>
            <c:ext xmlns:c16="http://schemas.microsoft.com/office/drawing/2014/chart" uri="{C3380CC4-5D6E-409C-BE32-E72D297353CC}">
              <c16:uniqueId val="{00000000-E2D4-4E6D-ABFE-98EC9E18165A}"/>
            </c:ext>
          </c:extLst>
        </c:ser>
        <c:ser>
          <c:idx val="1"/>
          <c:order val="1"/>
          <c:tx>
            <c:strRef>
              <c:f>Sayfa1!$C$1</c:f>
              <c:strCache>
                <c:ptCount val="1"/>
                <c:pt idx="0">
                  <c:v>PLASTİK</c:v>
                </c:pt>
              </c:strCache>
            </c:strRef>
          </c:tx>
          <c:spPr>
            <a:solidFill>
              <a:schemeClr val="tx1">
                <a:lumMod val="50000"/>
                <a:lumOff val="50000"/>
              </a:schemeClr>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5400000" spcFirstLastPara="1" vertOverflow="ellipsis" wrap="square" anchor="ctr" anchorCtr="1"/>
              <a:lstStyle/>
              <a:p>
                <a:pPr>
                  <a:defRPr sz="2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Sayfa1!$A$2:$A$10</c:f>
              <c:strCache>
                <c:ptCount val="8"/>
                <c:pt idx="0">
                  <c:v>Nis.24</c:v>
                </c:pt>
                <c:pt idx="1">
                  <c:v>May.24</c:v>
                </c:pt>
                <c:pt idx="2">
                  <c:v>Haz.24</c:v>
                </c:pt>
                <c:pt idx="3">
                  <c:v>Tem.24</c:v>
                </c:pt>
                <c:pt idx="4">
                  <c:v>Ağu.24</c:v>
                </c:pt>
                <c:pt idx="5">
                  <c:v>Eyl.24</c:v>
                </c:pt>
                <c:pt idx="6">
                  <c:v>Eki.24</c:v>
                </c:pt>
                <c:pt idx="7">
                  <c:v>Kas.24</c:v>
                </c:pt>
              </c:strCache>
            </c:strRef>
          </c:cat>
          <c:val>
            <c:numRef>
              <c:f>Sayfa1!$C$2:$C$10</c:f>
              <c:numCache>
                <c:formatCode>General</c:formatCode>
                <c:ptCount val="8"/>
                <c:pt idx="0">
                  <c:v>380</c:v>
                </c:pt>
                <c:pt idx="1">
                  <c:v>440</c:v>
                </c:pt>
                <c:pt idx="2">
                  <c:v>520</c:v>
                </c:pt>
                <c:pt idx="3">
                  <c:v>610</c:v>
                </c:pt>
                <c:pt idx="4">
                  <c:v>700</c:v>
                </c:pt>
                <c:pt idx="5">
                  <c:v>650</c:v>
                </c:pt>
                <c:pt idx="6">
                  <c:v>500</c:v>
                </c:pt>
                <c:pt idx="7">
                  <c:v>200</c:v>
                </c:pt>
              </c:numCache>
            </c:numRef>
          </c:val>
          <c:extLst>
            <c:ext xmlns:c16="http://schemas.microsoft.com/office/drawing/2014/chart" uri="{C3380CC4-5D6E-409C-BE32-E72D297353CC}">
              <c16:uniqueId val="{00000001-E2D4-4E6D-ABFE-98EC9E18165A}"/>
            </c:ext>
          </c:extLst>
        </c:ser>
        <c:ser>
          <c:idx val="2"/>
          <c:order val="2"/>
          <c:tx>
            <c:strRef>
              <c:f>Sayfa1!$D$1</c:f>
              <c:strCache>
                <c:ptCount val="1"/>
                <c:pt idx="0">
                  <c:v>METAL</c:v>
                </c:pt>
              </c:strCache>
            </c:strRef>
          </c:tx>
          <c:spPr>
            <a:solidFill>
              <a:schemeClr val="bg2">
                <a:lumMod val="75000"/>
              </a:schemeClr>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5400000" spcFirstLastPara="1" vertOverflow="ellipsis" wrap="square" anchor="ctr" anchorCtr="1"/>
              <a:lstStyle/>
              <a:p>
                <a:pPr>
                  <a:defRPr sz="2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Sayfa1!$A$2:$A$10</c:f>
              <c:strCache>
                <c:ptCount val="8"/>
                <c:pt idx="0">
                  <c:v>Nis.24</c:v>
                </c:pt>
                <c:pt idx="1">
                  <c:v>May.24</c:v>
                </c:pt>
                <c:pt idx="2">
                  <c:v>Haz.24</c:v>
                </c:pt>
                <c:pt idx="3">
                  <c:v>Tem.24</c:v>
                </c:pt>
                <c:pt idx="4">
                  <c:v>Ağu.24</c:v>
                </c:pt>
                <c:pt idx="5">
                  <c:v>Eyl.24</c:v>
                </c:pt>
                <c:pt idx="6">
                  <c:v>Eki.24</c:v>
                </c:pt>
                <c:pt idx="7">
                  <c:v>Kas.24</c:v>
                </c:pt>
              </c:strCache>
            </c:strRef>
          </c:cat>
          <c:val>
            <c:numRef>
              <c:f>Sayfa1!$D$2:$D$10</c:f>
              <c:numCache>
                <c:formatCode>General</c:formatCode>
                <c:ptCount val="8"/>
                <c:pt idx="0">
                  <c:v>160</c:v>
                </c:pt>
                <c:pt idx="1">
                  <c:v>280</c:v>
                </c:pt>
                <c:pt idx="2">
                  <c:v>330</c:v>
                </c:pt>
                <c:pt idx="3">
                  <c:v>380</c:v>
                </c:pt>
                <c:pt idx="4">
                  <c:v>420</c:v>
                </c:pt>
                <c:pt idx="5">
                  <c:v>320</c:v>
                </c:pt>
                <c:pt idx="6">
                  <c:v>320</c:v>
                </c:pt>
                <c:pt idx="7">
                  <c:v>120</c:v>
                </c:pt>
              </c:numCache>
            </c:numRef>
          </c:val>
          <c:extLst>
            <c:ext xmlns:c16="http://schemas.microsoft.com/office/drawing/2014/chart" uri="{C3380CC4-5D6E-409C-BE32-E72D297353CC}">
              <c16:uniqueId val="{00000002-E2D4-4E6D-ABFE-98EC9E18165A}"/>
            </c:ext>
          </c:extLst>
        </c:ser>
        <c:ser>
          <c:idx val="3"/>
          <c:order val="3"/>
          <c:tx>
            <c:strRef>
              <c:f>Sayfa1!$E$1</c:f>
              <c:strCache>
                <c:ptCount val="1"/>
                <c:pt idx="0">
                  <c:v>CAM</c:v>
                </c:pt>
              </c:strCache>
            </c:strRef>
          </c:tx>
          <c:spPr>
            <a:solidFill>
              <a:schemeClr val="bg2">
                <a:lumMod val="90000"/>
              </a:schemeClr>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5400000" spcFirstLastPara="1" vertOverflow="ellipsis" wrap="square" anchor="ctr" anchorCtr="1"/>
              <a:lstStyle/>
              <a:p>
                <a:pPr>
                  <a:defRPr sz="2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Sayfa1!$A$2:$A$10</c:f>
              <c:strCache>
                <c:ptCount val="8"/>
                <c:pt idx="0">
                  <c:v>Nis.24</c:v>
                </c:pt>
                <c:pt idx="1">
                  <c:v>May.24</c:v>
                </c:pt>
                <c:pt idx="2">
                  <c:v>Haz.24</c:v>
                </c:pt>
                <c:pt idx="3">
                  <c:v>Tem.24</c:v>
                </c:pt>
                <c:pt idx="4">
                  <c:v>Ağu.24</c:v>
                </c:pt>
                <c:pt idx="5">
                  <c:v>Eyl.24</c:v>
                </c:pt>
                <c:pt idx="6">
                  <c:v>Eki.24</c:v>
                </c:pt>
                <c:pt idx="7">
                  <c:v>Kas.24</c:v>
                </c:pt>
              </c:strCache>
            </c:strRef>
          </c:cat>
          <c:val>
            <c:numRef>
              <c:f>Sayfa1!$E$2:$E$10</c:f>
              <c:numCache>
                <c:formatCode>General</c:formatCode>
                <c:ptCount val="8"/>
                <c:pt idx="0">
                  <c:v>810</c:v>
                </c:pt>
                <c:pt idx="1">
                  <c:v>960</c:v>
                </c:pt>
                <c:pt idx="2">
                  <c:v>1050</c:v>
                </c:pt>
                <c:pt idx="3">
                  <c:v>1270</c:v>
                </c:pt>
                <c:pt idx="4">
                  <c:v>1340</c:v>
                </c:pt>
                <c:pt idx="5">
                  <c:v>1240</c:v>
                </c:pt>
                <c:pt idx="6">
                  <c:v>1040</c:v>
                </c:pt>
                <c:pt idx="7">
                  <c:v>340</c:v>
                </c:pt>
              </c:numCache>
            </c:numRef>
          </c:val>
          <c:extLst>
            <c:ext xmlns:c16="http://schemas.microsoft.com/office/drawing/2014/chart" uri="{C3380CC4-5D6E-409C-BE32-E72D297353CC}">
              <c16:uniqueId val="{00000003-E2D4-4E6D-ABFE-98EC9E18165A}"/>
            </c:ext>
          </c:extLst>
        </c:ser>
        <c:dLbls>
          <c:dLblPos val="outEnd"/>
          <c:showLegendKey val="0"/>
          <c:showVal val="1"/>
          <c:showCatName val="0"/>
          <c:showSerName val="0"/>
          <c:showPercent val="0"/>
          <c:showBubbleSize val="0"/>
        </c:dLbls>
        <c:gapWidth val="100"/>
        <c:overlap val="-24"/>
        <c:axId val="550511208"/>
        <c:axId val="550514736"/>
      </c:barChart>
      <c:catAx>
        <c:axId val="550511208"/>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crossAx val="550514736"/>
        <c:crosses val="autoZero"/>
        <c:auto val="1"/>
        <c:lblAlgn val="ctr"/>
        <c:lblOffset val="100"/>
        <c:noMultiLvlLbl val="1"/>
      </c:catAx>
      <c:valAx>
        <c:axId val="550514736"/>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550511208"/>
        <c:crosses val="autoZero"/>
        <c:crossBetween val="between"/>
      </c:valAx>
      <c:spPr>
        <a:noFill/>
        <a:ln>
          <a:noFill/>
        </a:ln>
        <a:effectLst/>
      </c:spPr>
    </c:plotArea>
    <c:legend>
      <c:legendPos val="b"/>
      <c:layout>
        <c:manualLayout>
          <c:xMode val="edge"/>
          <c:yMode val="edge"/>
          <c:x val="0.27850282654091985"/>
          <c:y val="0.17777398658501017"/>
          <c:w val="0.46646101555578084"/>
          <c:h val="6.481860600758238E-2"/>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legend>
    <c:plotVisOnly val="1"/>
    <c:dispBlanksAs val="gap"/>
    <c:showDLblsOverMax val="0"/>
  </c:chart>
  <c:spPr>
    <a:noFill/>
    <a:ln>
      <a:noFill/>
    </a:ln>
    <a:effectLst/>
  </c:spPr>
  <c:txPr>
    <a:bodyPr/>
    <a:lstStyle/>
    <a:p>
      <a:pPr>
        <a:defRPr sz="2400" b="1">
          <a:latin typeface="Calibri" panose="020F0502020204030204" pitchFamily="34" charset="0"/>
          <a:ea typeface="Calibri" panose="020F0502020204030204" pitchFamily="34" charset="0"/>
          <a:cs typeface="Calibri" panose="020F0502020204030204" pitchFamily="34" charset="0"/>
        </a:defRPr>
      </a:pPr>
      <a:endParaRPr lang="tr-T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tr-TR" sz="2400" dirty="0"/>
              <a:t>ATIK KULLANIM MİKTARLARI(KG) 2025</a:t>
            </a:r>
          </a:p>
        </c:rich>
      </c:tx>
      <c:layout>
        <c:manualLayout>
          <c:xMode val="edge"/>
          <c:yMode val="edge"/>
          <c:x val="0.23748778835910397"/>
          <c:y val="8.482962443034002E-2"/>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title>
    <c:autoTitleDeleted val="0"/>
    <c:plotArea>
      <c:layout>
        <c:manualLayout>
          <c:layoutTarget val="inner"/>
          <c:xMode val="edge"/>
          <c:yMode val="edge"/>
          <c:x val="4.2185106738454409E-2"/>
          <c:y val="0.21933760349262818"/>
          <c:w val="0.76916665152012154"/>
          <c:h val="0.59000909144276004"/>
        </c:manualLayout>
      </c:layout>
      <c:barChart>
        <c:barDir val="col"/>
        <c:grouping val="clustered"/>
        <c:varyColors val="0"/>
        <c:ser>
          <c:idx val="0"/>
          <c:order val="0"/>
          <c:tx>
            <c:strRef>
              <c:f>Sayfa1!$B$1</c:f>
              <c:strCache>
                <c:ptCount val="1"/>
                <c:pt idx="0">
                  <c:v>KAĞIT</c:v>
                </c:pt>
              </c:strCache>
            </c:strRef>
          </c:tx>
          <c:spPr>
            <a:solidFill>
              <a:schemeClr val="tx1"/>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5400000" spcFirstLastPara="1" vertOverflow="ellipsis" wrap="square" anchor="ctr" anchorCtr="1"/>
              <a:lstStyle/>
              <a:p>
                <a:pPr>
                  <a:defRPr sz="2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Sayfa1!$A$2:$A$13</c:f>
              <c:strCache>
                <c:ptCount val="11"/>
                <c:pt idx="0">
                  <c:v>Oc.25</c:v>
                </c:pt>
                <c:pt idx="1">
                  <c:v>Şub.25</c:v>
                </c:pt>
                <c:pt idx="2">
                  <c:v>Mar.25</c:v>
                </c:pt>
                <c:pt idx="3">
                  <c:v>Nis.25</c:v>
                </c:pt>
                <c:pt idx="4">
                  <c:v>May.25</c:v>
                </c:pt>
                <c:pt idx="5">
                  <c:v>Haz.25</c:v>
                </c:pt>
                <c:pt idx="6">
                  <c:v>Tem.25</c:v>
                </c:pt>
                <c:pt idx="7">
                  <c:v>Ağu.25</c:v>
                </c:pt>
                <c:pt idx="8">
                  <c:v>Eyl.25</c:v>
                </c:pt>
                <c:pt idx="9">
                  <c:v>Eki.25</c:v>
                </c:pt>
                <c:pt idx="10">
                  <c:v>Kas.25</c:v>
                </c:pt>
              </c:strCache>
            </c:strRef>
          </c:cat>
          <c:val>
            <c:numRef>
              <c:f>Sayfa1!$B$2:$B$13</c:f>
              <c:numCache>
                <c:formatCode>General</c:formatCode>
                <c:ptCount val="11"/>
                <c:pt idx="0">
                  <c:v>250</c:v>
                </c:pt>
                <c:pt idx="1">
                  <c:v>190</c:v>
                </c:pt>
                <c:pt idx="2">
                  <c:v>370</c:v>
                </c:pt>
                <c:pt idx="3">
                  <c:v>400</c:v>
                </c:pt>
                <c:pt idx="4">
                  <c:v>530</c:v>
                </c:pt>
                <c:pt idx="5">
                  <c:v>870</c:v>
                </c:pt>
                <c:pt idx="6">
                  <c:v>970</c:v>
                </c:pt>
                <c:pt idx="7">
                  <c:v>1100</c:v>
                </c:pt>
                <c:pt idx="8">
                  <c:v>1150</c:v>
                </c:pt>
                <c:pt idx="9">
                  <c:v>900</c:v>
                </c:pt>
                <c:pt idx="10">
                  <c:v>250</c:v>
                </c:pt>
              </c:numCache>
            </c:numRef>
          </c:val>
          <c:extLst>
            <c:ext xmlns:c16="http://schemas.microsoft.com/office/drawing/2014/chart" uri="{C3380CC4-5D6E-409C-BE32-E72D297353CC}">
              <c16:uniqueId val="{00000000-59F8-41DE-AE01-43DBA360113F}"/>
            </c:ext>
          </c:extLst>
        </c:ser>
        <c:ser>
          <c:idx val="1"/>
          <c:order val="1"/>
          <c:tx>
            <c:strRef>
              <c:f>Sayfa1!$C$1</c:f>
              <c:strCache>
                <c:ptCount val="1"/>
                <c:pt idx="0">
                  <c:v>PLASTİK</c:v>
                </c:pt>
              </c:strCache>
            </c:strRef>
          </c:tx>
          <c:spPr>
            <a:solidFill>
              <a:schemeClr val="tx1">
                <a:lumMod val="50000"/>
                <a:lumOff val="50000"/>
              </a:schemeClr>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5400000" spcFirstLastPara="1" vertOverflow="ellipsis" wrap="square" anchor="ctr" anchorCtr="1"/>
              <a:lstStyle/>
              <a:p>
                <a:pPr>
                  <a:defRPr sz="2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Sayfa1!$A$2:$A$13</c:f>
              <c:strCache>
                <c:ptCount val="11"/>
                <c:pt idx="0">
                  <c:v>Oc.25</c:v>
                </c:pt>
                <c:pt idx="1">
                  <c:v>Şub.25</c:v>
                </c:pt>
                <c:pt idx="2">
                  <c:v>Mar.25</c:v>
                </c:pt>
                <c:pt idx="3">
                  <c:v>Nis.25</c:v>
                </c:pt>
                <c:pt idx="4">
                  <c:v>May.25</c:v>
                </c:pt>
                <c:pt idx="5">
                  <c:v>Haz.25</c:v>
                </c:pt>
                <c:pt idx="6">
                  <c:v>Tem.25</c:v>
                </c:pt>
                <c:pt idx="7">
                  <c:v>Ağu.25</c:v>
                </c:pt>
                <c:pt idx="8">
                  <c:v>Eyl.25</c:v>
                </c:pt>
                <c:pt idx="9">
                  <c:v>Eki.25</c:v>
                </c:pt>
                <c:pt idx="10">
                  <c:v>Kas.25</c:v>
                </c:pt>
              </c:strCache>
            </c:strRef>
          </c:cat>
          <c:val>
            <c:numRef>
              <c:f>Sayfa1!$C$2:$C$13</c:f>
              <c:numCache>
                <c:formatCode>General</c:formatCode>
                <c:ptCount val="11"/>
                <c:pt idx="0">
                  <c:v>190</c:v>
                </c:pt>
                <c:pt idx="1">
                  <c:v>210</c:v>
                </c:pt>
                <c:pt idx="2">
                  <c:v>250</c:v>
                </c:pt>
                <c:pt idx="3">
                  <c:v>300</c:v>
                </c:pt>
                <c:pt idx="4">
                  <c:v>350</c:v>
                </c:pt>
                <c:pt idx="5">
                  <c:v>500</c:v>
                </c:pt>
                <c:pt idx="6">
                  <c:v>600</c:v>
                </c:pt>
                <c:pt idx="7">
                  <c:v>700</c:v>
                </c:pt>
                <c:pt idx="8">
                  <c:v>720</c:v>
                </c:pt>
                <c:pt idx="9">
                  <c:v>610</c:v>
                </c:pt>
                <c:pt idx="10">
                  <c:v>190</c:v>
                </c:pt>
              </c:numCache>
            </c:numRef>
          </c:val>
          <c:extLst>
            <c:ext xmlns:c16="http://schemas.microsoft.com/office/drawing/2014/chart" uri="{C3380CC4-5D6E-409C-BE32-E72D297353CC}">
              <c16:uniqueId val="{00000001-59F8-41DE-AE01-43DBA360113F}"/>
            </c:ext>
          </c:extLst>
        </c:ser>
        <c:ser>
          <c:idx val="2"/>
          <c:order val="2"/>
          <c:tx>
            <c:strRef>
              <c:f>Sayfa1!$D$1</c:f>
              <c:strCache>
                <c:ptCount val="1"/>
                <c:pt idx="0">
                  <c:v>METAL</c:v>
                </c:pt>
              </c:strCache>
            </c:strRef>
          </c:tx>
          <c:spPr>
            <a:solidFill>
              <a:schemeClr val="tx1">
                <a:lumMod val="65000"/>
                <a:lumOff val="35000"/>
              </a:schemeClr>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5400000" spcFirstLastPara="1" vertOverflow="ellipsis" wrap="square" anchor="ctr" anchorCtr="1"/>
              <a:lstStyle/>
              <a:p>
                <a:pPr>
                  <a:defRPr sz="2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Sayfa1!$A$2:$A$13</c:f>
              <c:strCache>
                <c:ptCount val="11"/>
                <c:pt idx="0">
                  <c:v>Oc.25</c:v>
                </c:pt>
                <c:pt idx="1">
                  <c:v>Şub.25</c:v>
                </c:pt>
                <c:pt idx="2">
                  <c:v>Mar.25</c:v>
                </c:pt>
                <c:pt idx="3">
                  <c:v>Nis.25</c:v>
                </c:pt>
                <c:pt idx="4">
                  <c:v>May.25</c:v>
                </c:pt>
                <c:pt idx="5">
                  <c:v>Haz.25</c:v>
                </c:pt>
                <c:pt idx="6">
                  <c:v>Tem.25</c:v>
                </c:pt>
                <c:pt idx="7">
                  <c:v>Ağu.25</c:v>
                </c:pt>
                <c:pt idx="8">
                  <c:v>Eyl.25</c:v>
                </c:pt>
                <c:pt idx="9">
                  <c:v>Eki.25</c:v>
                </c:pt>
                <c:pt idx="10">
                  <c:v>Kas.25</c:v>
                </c:pt>
              </c:strCache>
            </c:strRef>
          </c:cat>
          <c:val>
            <c:numRef>
              <c:f>Sayfa1!$D$2:$D$13</c:f>
              <c:numCache>
                <c:formatCode>General</c:formatCode>
                <c:ptCount val="11"/>
                <c:pt idx="0">
                  <c:v>150</c:v>
                </c:pt>
                <c:pt idx="1">
                  <c:v>130</c:v>
                </c:pt>
                <c:pt idx="2">
                  <c:v>200</c:v>
                </c:pt>
                <c:pt idx="3">
                  <c:v>190</c:v>
                </c:pt>
                <c:pt idx="4">
                  <c:v>220</c:v>
                </c:pt>
                <c:pt idx="5">
                  <c:v>380</c:v>
                </c:pt>
                <c:pt idx="6">
                  <c:v>450</c:v>
                </c:pt>
                <c:pt idx="7">
                  <c:v>560</c:v>
                </c:pt>
                <c:pt idx="8">
                  <c:v>590</c:v>
                </c:pt>
                <c:pt idx="9">
                  <c:v>480</c:v>
                </c:pt>
                <c:pt idx="10">
                  <c:v>120</c:v>
                </c:pt>
              </c:numCache>
            </c:numRef>
          </c:val>
          <c:extLst>
            <c:ext xmlns:c16="http://schemas.microsoft.com/office/drawing/2014/chart" uri="{C3380CC4-5D6E-409C-BE32-E72D297353CC}">
              <c16:uniqueId val="{00000002-59F8-41DE-AE01-43DBA360113F}"/>
            </c:ext>
          </c:extLst>
        </c:ser>
        <c:ser>
          <c:idx val="3"/>
          <c:order val="3"/>
          <c:tx>
            <c:strRef>
              <c:f>Sayfa1!$E$1</c:f>
              <c:strCache>
                <c:ptCount val="1"/>
                <c:pt idx="0">
                  <c:v>CAM</c:v>
                </c:pt>
              </c:strCache>
            </c:strRef>
          </c:tx>
          <c:spPr>
            <a:solidFill>
              <a:schemeClr val="bg2"/>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5400000" spcFirstLastPara="1" vertOverflow="ellipsis" wrap="square" anchor="ctr" anchorCtr="1"/>
              <a:lstStyle/>
              <a:p>
                <a:pPr>
                  <a:defRPr sz="24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Sayfa1!$A$2:$A$13</c:f>
              <c:strCache>
                <c:ptCount val="11"/>
                <c:pt idx="0">
                  <c:v>Oc.25</c:v>
                </c:pt>
                <c:pt idx="1">
                  <c:v>Şub.25</c:v>
                </c:pt>
                <c:pt idx="2">
                  <c:v>Mar.25</c:v>
                </c:pt>
                <c:pt idx="3">
                  <c:v>Nis.25</c:v>
                </c:pt>
                <c:pt idx="4">
                  <c:v>May.25</c:v>
                </c:pt>
                <c:pt idx="5">
                  <c:v>Haz.25</c:v>
                </c:pt>
                <c:pt idx="6">
                  <c:v>Tem.25</c:v>
                </c:pt>
                <c:pt idx="7">
                  <c:v>Ağu.25</c:v>
                </c:pt>
                <c:pt idx="8">
                  <c:v>Eyl.25</c:v>
                </c:pt>
                <c:pt idx="9">
                  <c:v>Eki.25</c:v>
                </c:pt>
                <c:pt idx="10">
                  <c:v>Kas.25</c:v>
                </c:pt>
              </c:strCache>
            </c:strRef>
          </c:cat>
          <c:val>
            <c:numRef>
              <c:f>Sayfa1!$E$2:$E$13</c:f>
              <c:numCache>
                <c:formatCode>General</c:formatCode>
                <c:ptCount val="11"/>
                <c:pt idx="0">
                  <c:v>270</c:v>
                </c:pt>
                <c:pt idx="1">
                  <c:v>275</c:v>
                </c:pt>
                <c:pt idx="2">
                  <c:v>300</c:v>
                </c:pt>
                <c:pt idx="3">
                  <c:v>320</c:v>
                </c:pt>
                <c:pt idx="4">
                  <c:v>420</c:v>
                </c:pt>
                <c:pt idx="5">
                  <c:v>700</c:v>
                </c:pt>
                <c:pt idx="6">
                  <c:v>800</c:v>
                </c:pt>
                <c:pt idx="7">
                  <c:v>930</c:v>
                </c:pt>
                <c:pt idx="8">
                  <c:v>900</c:v>
                </c:pt>
                <c:pt idx="9">
                  <c:v>790</c:v>
                </c:pt>
                <c:pt idx="10">
                  <c:v>200</c:v>
                </c:pt>
              </c:numCache>
            </c:numRef>
          </c:val>
          <c:extLst>
            <c:ext xmlns:c16="http://schemas.microsoft.com/office/drawing/2014/chart" uri="{C3380CC4-5D6E-409C-BE32-E72D297353CC}">
              <c16:uniqueId val="{00000003-59F8-41DE-AE01-43DBA360113F}"/>
            </c:ext>
          </c:extLst>
        </c:ser>
        <c:dLbls>
          <c:dLblPos val="outEnd"/>
          <c:showLegendKey val="0"/>
          <c:showVal val="1"/>
          <c:showCatName val="0"/>
          <c:showSerName val="0"/>
          <c:showPercent val="0"/>
          <c:showBubbleSize val="0"/>
        </c:dLbls>
        <c:gapWidth val="100"/>
        <c:overlap val="-24"/>
        <c:axId val="550524928"/>
        <c:axId val="550528064"/>
      </c:barChart>
      <c:catAx>
        <c:axId val="550524928"/>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crossAx val="550528064"/>
        <c:crosses val="autoZero"/>
        <c:auto val="1"/>
        <c:lblAlgn val="ctr"/>
        <c:lblOffset val="100"/>
        <c:noMultiLvlLbl val="1"/>
      </c:catAx>
      <c:valAx>
        <c:axId val="550528064"/>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550524928"/>
        <c:crosses val="autoZero"/>
        <c:crossBetween val="between"/>
      </c:valAx>
      <c:spPr>
        <a:noFill/>
        <a:ln>
          <a:noFill/>
        </a:ln>
        <a:effectLst/>
      </c:spPr>
    </c:plotArea>
    <c:legend>
      <c:legendPos val="b"/>
      <c:layout>
        <c:manualLayout>
          <c:xMode val="edge"/>
          <c:yMode val="edge"/>
          <c:x val="0.22603135593677071"/>
          <c:y val="0.14826762933347507"/>
          <c:w val="0.42341861271447845"/>
          <c:h val="5.3958844283808788E-2"/>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legend>
    <c:plotVisOnly val="1"/>
    <c:dispBlanksAs val="gap"/>
    <c:showDLblsOverMax val="0"/>
  </c:chart>
  <c:spPr>
    <a:noFill/>
    <a:ln>
      <a:noFill/>
    </a:ln>
    <a:effectLst/>
  </c:spPr>
  <c:txPr>
    <a:bodyPr/>
    <a:lstStyle/>
    <a:p>
      <a:pPr>
        <a:defRPr sz="2400" b="1">
          <a:latin typeface="Calibri" panose="020F0502020204030204" pitchFamily="34" charset="0"/>
          <a:ea typeface="Calibri" panose="020F0502020204030204" pitchFamily="34" charset="0"/>
          <a:cs typeface="Calibri" panose="020F0502020204030204" pitchFamily="34" charset="0"/>
        </a:defRPr>
      </a:pPr>
      <a:endParaRPr lang="tr-T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Sayfa1!$A$2</c:f>
              <c:strCache>
                <c:ptCount val="1"/>
                <c:pt idx="0">
                  <c:v>2024 Ambalaj</c:v>
                </c:pt>
              </c:strCache>
            </c:strRef>
          </c:tx>
          <c:spPr>
            <a:solidFill>
              <a:schemeClr val="tx1">
                <a:lumMod val="65000"/>
                <a:lumOff val="35000"/>
              </a:schemeClr>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0" spcFirstLastPara="1" vertOverflow="ellipsis" vert="horz" wrap="square" anchor="ctr" anchorCtr="1"/>
              <a:lstStyle/>
              <a:p>
                <a:pPr>
                  <a:defRPr sz="28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Sayfa1!$B$1:$E$1</c:f>
              <c:strCache>
                <c:ptCount val="4"/>
                <c:pt idx="0">
                  <c:v>KAĞIT</c:v>
                </c:pt>
                <c:pt idx="1">
                  <c:v>PLASTİK</c:v>
                </c:pt>
                <c:pt idx="2">
                  <c:v>METAL</c:v>
                </c:pt>
                <c:pt idx="3">
                  <c:v>CAM</c:v>
                </c:pt>
              </c:strCache>
            </c:strRef>
          </c:cat>
          <c:val>
            <c:numRef>
              <c:f>Sayfa1!$B$2:$E$2</c:f>
              <c:numCache>
                <c:formatCode>General</c:formatCode>
                <c:ptCount val="4"/>
                <c:pt idx="0">
                  <c:v>7700</c:v>
                </c:pt>
                <c:pt idx="1">
                  <c:v>4000</c:v>
                </c:pt>
                <c:pt idx="2">
                  <c:v>2330</c:v>
                </c:pt>
                <c:pt idx="3">
                  <c:v>8050</c:v>
                </c:pt>
              </c:numCache>
            </c:numRef>
          </c:val>
          <c:extLst>
            <c:ext xmlns:c16="http://schemas.microsoft.com/office/drawing/2014/chart" uri="{C3380CC4-5D6E-409C-BE32-E72D297353CC}">
              <c16:uniqueId val="{00000000-0ADA-418D-982D-47F2C8ABE677}"/>
            </c:ext>
          </c:extLst>
        </c:ser>
        <c:ser>
          <c:idx val="1"/>
          <c:order val="1"/>
          <c:tx>
            <c:strRef>
              <c:f>Sayfa1!$A$3</c:f>
              <c:strCache>
                <c:ptCount val="1"/>
                <c:pt idx="0">
                  <c:v>2025 Ambalaj</c:v>
                </c:pt>
              </c:strCache>
            </c:strRef>
          </c:tx>
          <c:spPr>
            <a:solidFill>
              <a:schemeClr val="tx1">
                <a:lumMod val="50000"/>
                <a:lumOff val="50000"/>
              </a:schemeClr>
            </a:solidFill>
            <a:ln>
              <a:noFill/>
            </a:ln>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c:spPr>
          <c:invertIfNegative val="0"/>
          <c:dLbls>
            <c:spPr>
              <a:noFill/>
              <a:ln>
                <a:noFill/>
              </a:ln>
              <a:effectLst/>
            </c:spPr>
            <c:txPr>
              <a:bodyPr rot="0" spcFirstLastPara="1" vertOverflow="ellipsis" vert="horz" wrap="square" anchor="ctr" anchorCtr="1"/>
              <a:lstStyle/>
              <a:p>
                <a:pPr>
                  <a:defRPr sz="2800" b="1"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Sayfa1!$B$1:$E$1</c:f>
              <c:strCache>
                <c:ptCount val="4"/>
                <c:pt idx="0">
                  <c:v>KAĞIT</c:v>
                </c:pt>
                <c:pt idx="1">
                  <c:v>PLASTİK</c:v>
                </c:pt>
                <c:pt idx="2">
                  <c:v>METAL</c:v>
                </c:pt>
                <c:pt idx="3">
                  <c:v>CAM</c:v>
                </c:pt>
              </c:strCache>
            </c:strRef>
          </c:cat>
          <c:val>
            <c:numRef>
              <c:f>Sayfa1!$B$3:$E$3</c:f>
              <c:numCache>
                <c:formatCode>General</c:formatCode>
                <c:ptCount val="4"/>
                <c:pt idx="0">
                  <c:v>7160</c:v>
                </c:pt>
                <c:pt idx="1">
                  <c:v>4740</c:v>
                </c:pt>
                <c:pt idx="2">
                  <c:v>3350</c:v>
                </c:pt>
                <c:pt idx="3">
                  <c:v>6005</c:v>
                </c:pt>
              </c:numCache>
            </c:numRef>
          </c:val>
          <c:extLst>
            <c:ext xmlns:c16="http://schemas.microsoft.com/office/drawing/2014/chart" uri="{C3380CC4-5D6E-409C-BE32-E72D297353CC}">
              <c16:uniqueId val="{00000001-0ADA-418D-982D-47F2C8ABE677}"/>
            </c:ext>
          </c:extLst>
        </c:ser>
        <c:dLbls>
          <c:dLblPos val="outEnd"/>
          <c:showLegendKey val="0"/>
          <c:showVal val="1"/>
          <c:showCatName val="0"/>
          <c:showSerName val="0"/>
          <c:showPercent val="0"/>
          <c:showBubbleSize val="0"/>
        </c:dLbls>
        <c:gapWidth val="100"/>
        <c:overlap val="-24"/>
        <c:axId val="550524144"/>
        <c:axId val="550524536"/>
      </c:barChart>
      <c:catAx>
        <c:axId val="55052414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8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crossAx val="550524536"/>
        <c:crosses val="autoZero"/>
        <c:auto val="1"/>
        <c:lblAlgn val="ctr"/>
        <c:lblOffset val="100"/>
        <c:noMultiLvlLbl val="1"/>
      </c:catAx>
      <c:valAx>
        <c:axId val="550524536"/>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5505241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800" b="1"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tr-TR"/>
        </a:p>
      </c:txPr>
    </c:legend>
    <c:plotVisOnly val="1"/>
    <c:dispBlanksAs val="gap"/>
    <c:showDLblsOverMax val="0"/>
  </c:chart>
  <c:spPr>
    <a:noFill/>
    <a:ln>
      <a:noFill/>
    </a:ln>
    <a:effectLst/>
  </c:spPr>
  <c:txPr>
    <a:bodyPr/>
    <a:lstStyle/>
    <a:p>
      <a:pPr>
        <a:defRPr sz="2800" b="1">
          <a:latin typeface="Calibri" panose="020F0502020204030204" pitchFamily="34" charset="0"/>
          <a:ea typeface="Calibri" panose="020F0502020204030204" pitchFamily="34" charset="0"/>
          <a:cs typeface="Calibri" panose="020F0502020204030204" pitchFamily="34" charset="0"/>
        </a:defRPr>
      </a:pPr>
      <a:endParaRPr lang="tr-TR"/>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withinLinear" id="16">
  <a:schemeClr val="accent3"/>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7.xml><?xml version="1.0" encoding="utf-8"?>
<cs:colorStyle xmlns:cs="http://schemas.microsoft.com/office/drawing/2012/chartStyle" xmlns:a="http://schemas.openxmlformats.org/drawingml/2006/main" meth="withinLinear" id="15">
  <a:schemeClr val="accent2"/>
</cs:colorStyle>
</file>

<file path=ppt/charts/colors8.xml><?xml version="1.0" encoding="utf-8"?>
<cs:colorStyle xmlns:cs="http://schemas.microsoft.com/office/drawing/2012/chartStyle" xmlns:a="http://schemas.openxmlformats.org/drawingml/2006/main" meth="withinLinear" id="15">
  <a:schemeClr val="accent2"/>
</cs:colorStyle>
</file>

<file path=ppt/charts/colors9.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9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69851C-7046-4BB6-996A-AF41C90A5EB8}" type="doc">
      <dgm:prSet loTypeId="urn:microsoft.com/office/officeart/2005/8/layout/vProcess5" loCatId="process" qsTypeId="urn:microsoft.com/office/officeart/2005/8/quickstyle/simple1" qsCatId="simple" csTypeId="urn:microsoft.com/office/officeart/2005/8/colors/accent2_2" csCatId="accent2" phldr="1"/>
      <dgm:spPr/>
      <dgm:t>
        <a:bodyPr/>
        <a:lstStyle/>
        <a:p>
          <a:endParaRPr lang="en-US"/>
        </a:p>
      </dgm:t>
    </dgm:pt>
    <dgm:pt modelId="{51DCFDF5-ACB4-4A24-864E-6CF7A8B2E382}">
      <dgm:prSet/>
      <dgm:spPr>
        <a:solidFill>
          <a:schemeClr val="tx1">
            <a:lumMod val="50000"/>
            <a:lumOff val="50000"/>
          </a:schemeClr>
        </a:solidFill>
      </dgm:spPr>
      <dgm:t>
        <a:bodyPr/>
        <a:lstStyle/>
        <a:p>
          <a:r>
            <a:rPr lang="tr-TR" dirty="0" err="1"/>
            <a:t>Titreyengöl</a:t>
          </a:r>
          <a:r>
            <a:rPr lang="tr-TR" dirty="0"/>
            <a:t> / Side’de bulunan </a:t>
          </a:r>
          <a:r>
            <a:rPr lang="tr-TR" dirty="0" err="1"/>
            <a:t>Lago’da</a:t>
          </a:r>
          <a:r>
            <a:rPr lang="tr-TR" dirty="0"/>
            <a:t> doğal güzelliklerin tadını çıkaran konuklarımız otelimize girdiklerinde onları eşsiz kumsalımız karşılar. Bununla birlikte kapalı alanda 1 adet çocuk 1 adet büyükler için ısıtmalı havuzumuz bulunmaktadır. Eşsiz konumu sayesinde odalarımızın çoğu deniz, havuz bir kısmı da göl, nehir ve orman manzaralıdır. Oda tercihiniz ne olursa olsun tatiliniz süresince Lago olarak sizlere lüks, konfor ve eğlencenin bir arada olduğu unutulmaz bir imkânı sunuyoruz.</a:t>
          </a:r>
          <a:endParaRPr lang="en-US" dirty="0"/>
        </a:p>
      </dgm:t>
    </dgm:pt>
    <dgm:pt modelId="{20A065E0-71B8-4DC8-A9A0-94F4F636BB25}" type="parTrans" cxnId="{D6FF5110-CA02-464D-B1ED-C9DDF6025817}">
      <dgm:prSet/>
      <dgm:spPr/>
      <dgm:t>
        <a:bodyPr/>
        <a:lstStyle/>
        <a:p>
          <a:endParaRPr lang="en-US"/>
        </a:p>
      </dgm:t>
    </dgm:pt>
    <dgm:pt modelId="{D1823577-A521-428C-8125-CBF559F6F038}" type="sibTrans" cxnId="{D6FF5110-CA02-464D-B1ED-C9DDF6025817}">
      <dgm:prSet/>
      <dgm:spPr>
        <a:solidFill>
          <a:schemeClr val="tx1">
            <a:lumMod val="65000"/>
            <a:lumOff val="35000"/>
            <a:alpha val="90000"/>
          </a:schemeClr>
        </a:solidFill>
      </dgm:spPr>
      <dgm:t>
        <a:bodyPr/>
        <a:lstStyle/>
        <a:p>
          <a:endParaRPr lang="en-US"/>
        </a:p>
      </dgm:t>
    </dgm:pt>
    <dgm:pt modelId="{9E9B17B0-8AE0-4F24-9087-1DAE66F3B6EA}">
      <dgm:prSet/>
      <dgm:spPr>
        <a:solidFill>
          <a:schemeClr val="tx1">
            <a:lumMod val="50000"/>
            <a:lumOff val="50000"/>
          </a:schemeClr>
        </a:solidFill>
      </dgm:spPr>
      <dgm:t>
        <a:bodyPr/>
        <a:lstStyle/>
        <a:p>
          <a:r>
            <a:rPr lang="tr-TR"/>
            <a:t>Ayrıca Otelimizde profesyonel şeflerimizin ellerinden çıkan lezzet dolu yemekler, her biri kendine özgü bir lezzete sahip olan barlarla birlikte Dünya mutfaklarını sizlerle buluşturan restoranlarımız sizler için hazırdır. Konuklarımız otelimizde; bülbül ve çeşitli kuş sesleriyle uyanıp, Havuz ve deniz kenarında pırıl pırıl havuzumuzda ve mavi bayraklı berrak denizimizde yüzebilirsiniz. Bunların yanında Lago, saunadan spa’ya, fitness merkezine, bay, bayan kuaför, butik, kuyumcu, fotoğrafçı, oyun salonu, AVM gibi çeşitli hizmetleriyle de rahatınızı sağlamaktadır. Aqua, amfi tiyatro gösterileri, gece kulübü, çocuk kulübü, gibi aktivitelerimizle de doyumsuz eğlence mümkün!</a:t>
          </a:r>
          <a:endParaRPr lang="en-US"/>
        </a:p>
      </dgm:t>
    </dgm:pt>
    <dgm:pt modelId="{5B936935-AE64-42A3-88F1-0195D6FD45E3}" type="parTrans" cxnId="{B9E64472-FA76-4EDE-A090-1CFE3A4C4971}">
      <dgm:prSet/>
      <dgm:spPr/>
      <dgm:t>
        <a:bodyPr/>
        <a:lstStyle/>
        <a:p>
          <a:endParaRPr lang="en-US"/>
        </a:p>
      </dgm:t>
    </dgm:pt>
    <dgm:pt modelId="{9997B7CB-BA3B-476A-B785-9A32044D434B}" type="sibTrans" cxnId="{B9E64472-FA76-4EDE-A090-1CFE3A4C4971}">
      <dgm:prSet/>
      <dgm:spPr>
        <a:solidFill>
          <a:schemeClr val="tx1">
            <a:lumMod val="65000"/>
            <a:lumOff val="35000"/>
            <a:alpha val="90000"/>
          </a:schemeClr>
        </a:solidFill>
      </dgm:spPr>
      <dgm:t>
        <a:bodyPr/>
        <a:lstStyle/>
        <a:p>
          <a:endParaRPr lang="en-US"/>
        </a:p>
      </dgm:t>
    </dgm:pt>
    <dgm:pt modelId="{A1A75BC5-2682-4CCD-B29D-D324959ADAAA}">
      <dgm:prSet/>
      <dgm:spPr>
        <a:solidFill>
          <a:schemeClr val="tx1">
            <a:lumMod val="50000"/>
            <a:lumOff val="50000"/>
          </a:schemeClr>
        </a:solidFill>
      </dgm:spPr>
      <dgm:t>
        <a:bodyPr/>
        <a:lstStyle/>
        <a:p>
          <a:r>
            <a:rPr lang="tr-TR"/>
            <a:t>Otelimiz, göle 50, nehire 300 metredir. Burada yürüyüş, koşu, bisiklete biner balık tutar, dünyanın her yerinden gelen kuşları izleme fırsatını bulup, doğayla iç içe yaşayabilirsiniz. Ayrıca diğer yerler: Manavgat 4 km. Manavgat şelalesine 6 km Side’ye: 9km olup Side de Side antik şehrini anfi tiyatrosunu müzesini, Apollon Tapınağını ve Dünyada ilk Güneş saatini görme şansına erişebilirsiniz.</a:t>
          </a:r>
          <a:endParaRPr lang="en-US"/>
        </a:p>
      </dgm:t>
    </dgm:pt>
    <dgm:pt modelId="{8E5CD554-EDF2-43AA-A7A9-75EBD049C9B2}" type="parTrans" cxnId="{BEF43203-58C4-4B59-8A19-B7AB2468AE5E}">
      <dgm:prSet/>
      <dgm:spPr/>
      <dgm:t>
        <a:bodyPr/>
        <a:lstStyle/>
        <a:p>
          <a:endParaRPr lang="en-US"/>
        </a:p>
      </dgm:t>
    </dgm:pt>
    <dgm:pt modelId="{981128DB-B260-4B9A-B099-4BCB1F95A5A6}" type="sibTrans" cxnId="{BEF43203-58C4-4B59-8A19-B7AB2468AE5E}">
      <dgm:prSet/>
      <dgm:spPr/>
      <dgm:t>
        <a:bodyPr/>
        <a:lstStyle/>
        <a:p>
          <a:endParaRPr lang="en-US"/>
        </a:p>
      </dgm:t>
    </dgm:pt>
    <dgm:pt modelId="{4B624AEF-FCEF-46D2-81E2-7ACA4B5214D7}" type="pres">
      <dgm:prSet presAssocID="{E869851C-7046-4BB6-996A-AF41C90A5EB8}" presName="outerComposite" presStyleCnt="0">
        <dgm:presLayoutVars>
          <dgm:chMax val="5"/>
          <dgm:dir/>
          <dgm:resizeHandles val="exact"/>
        </dgm:presLayoutVars>
      </dgm:prSet>
      <dgm:spPr/>
    </dgm:pt>
    <dgm:pt modelId="{0053F579-4EEA-4099-AE00-400FB9E407CD}" type="pres">
      <dgm:prSet presAssocID="{E869851C-7046-4BB6-996A-AF41C90A5EB8}" presName="dummyMaxCanvas" presStyleCnt="0">
        <dgm:presLayoutVars/>
      </dgm:prSet>
      <dgm:spPr/>
    </dgm:pt>
    <dgm:pt modelId="{E5FAA19C-7FDF-4B05-92FF-BBA7A040F793}" type="pres">
      <dgm:prSet presAssocID="{E869851C-7046-4BB6-996A-AF41C90A5EB8}" presName="ThreeNodes_1" presStyleLbl="node1" presStyleIdx="0" presStyleCnt="3" custLinFactNeighborX="3931" custLinFactNeighborY="-23781">
        <dgm:presLayoutVars>
          <dgm:bulletEnabled val="1"/>
        </dgm:presLayoutVars>
      </dgm:prSet>
      <dgm:spPr/>
    </dgm:pt>
    <dgm:pt modelId="{F05C2A3E-7D7D-475C-B96F-7E331B2FF309}" type="pres">
      <dgm:prSet presAssocID="{E869851C-7046-4BB6-996A-AF41C90A5EB8}" presName="ThreeNodes_2" presStyleLbl="node1" presStyleIdx="1" presStyleCnt="3">
        <dgm:presLayoutVars>
          <dgm:bulletEnabled val="1"/>
        </dgm:presLayoutVars>
      </dgm:prSet>
      <dgm:spPr/>
    </dgm:pt>
    <dgm:pt modelId="{CD9C41D1-45E0-4C57-8AFD-062337A1C6BD}" type="pres">
      <dgm:prSet presAssocID="{E869851C-7046-4BB6-996A-AF41C90A5EB8}" presName="ThreeNodes_3" presStyleLbl="node1" presStyleIdx="2" presStyleCnt="3">
        <dgm:presLayoutVars>
          <dgm:bulletEnabled val="1"/>
        </dgm:presLayoutVars>
      </dgm:prSet>
      <dgm:spPr/>
    </dgm:pt>
    <dgm:pt modelId="{A1D0CADB-D5F0-405D-8D7D-42136CAD65DC}" type="pres">
      <dgm:prSet presAssocID="{E869851C-7046-4BB6-996A-AF41C90A5EB8}" presName="ThreeConn_1-2" presStyleLbl="fgAccFollowNode1" presStyleIdx="0" presStyleCnt="2">
        <dgm:presLayoutVars>
          <dgm:bulletEnabled val="1"/>
        </dgm:presLayoutVars>
      </dgm:prSet>
      <dgm:spPr/>
    </dgm:pt>
    <dgm:pt modelId="{FD5A6051-214F-46FE-A3A9-ED6EEDAD86FE}" type="pres">
      <dgm:prSet presAssocID="{E869851C-7046-4BB6-996A-AF41C90A5EB8}" presName="ThreeConn_2-3" presStyleLbl="fgAccFollowNode1" presStyleIdx="1" presStyleCnt="2">
        <dgm:presLayoutVars>
          <dgm:bulletEnabled val="1"/>
        </dgm:presLayoutVars>
      </dgm:prSet>
      <dgm:spPr/>
    </dgm:pt>
    <dgm:pt modelId="{4F8389A2-290D-469C-8FAF-AC33324CF849}" type="pres">
      <dgm:prSet presAssocID="{E869851C-7046-4BB6-996A-AF41C90A5EB8}" presName="ThreeNodes_1_text" presStyleLbl="node1" presStyleIdx="2" presStyleCnt="3">
        <dgm:presLayoutVars>
          <dgm:bulletEnabled val="1"/>
        </dgm:presLayoutVars>
      </dgm:prSet>
      <dgm:spPr/>
    </dgm:pt>
    <dgm:pt modelId="{BA8304CB-E4F4-410E-A551-C2156228AC19}" type="pres">
      <dgm:prSet presAssocID="{E869851C-7046-4BB6-996A-AF41C90A5EB8}" presName="ThreeNodes_2_text" presStyleLbl="node1" presStyleIdx="2" presStyleCnt="3">
        <dgm:presLayoutVars>
          <dgm:bulletEnabled val="1"/>
        </dgm:presLayoutVars>
      </dgm:prSet>
      <dgm:spPr/>
    </dgm:pt>
    <dgm:pt modelId="{5747B144-2D52-4449-B12F-775FC547A1EE}" type="pres">
      <dgm:prSet presAssocID="{E869851C-7046-4BB6-996A-AF41C90A5EB8}" presName="ThreeNodes_3_text" presStyleLbl="node1" presStyleIdx="2" presStyleCnt="3">
        <dgm:presLayoutVars>
          <dgm:bulletEnabled val="1"/>
        </dgm:presLayoutVars>
      </dgm:prSet>
      <dgm:spPr/>
    </dgm:pt>
  </dgm:ptLst>
  <dgm:cxnLst>
    <dgm:cxn modelId="{BEF43203-58C4-4B59-8A19-B7AB2468AE5E}" srcId="{E869851C-7046-4BB6-996A-AF41C90A5EB8}" destId="{A1A75BC5-2682-4CCD-B29D-D324959ADAAA}" srcOrd="2" destOrd="0" parTransId="{8E5CD554-EDF2-43AA-A7A9-75EBD049C9B2}" sibTransId="{981128DB-B260-4B9A-B099-4BCB1F95A5A6}"/>
    <dgm:cxn modelId="{B4B26303-BFFB-40BD-8287-13D68C76E994}" type="presOf" srcId="{9997B7CB-BA3B-476A-B785-9A32044D434B}" destId="{FD5A6051-214F-46FE-A3A9-ED6EEDAD86FE}" srcOrd="0" destOrd="0" presId="urn:microsoft.com/office/officeart/2005/8/layout/vProcess5"/>
    <dgm:cxn modelId="{D6FF5110-CA02-464D-B1ED-C9DDF6025817}" srcId="{E869851C-7046-4BB6-996A-AF41C90A5EB8}" destId="{51DCFDF5-ACB4-4A24-864E-6CF7A8B2E382}" srcOrd="0" destOrd="0" parTransId="{20A065E0-71B8-4DC8-A9A0-94F4F636BB25}" sibTransId="{D1823577-A521-428C-8125-CBF559F6F038}"/>
    <dgm:cxn modelId="{6AAB702F-A985-47D0-A446-CC8CC9D744D1}" type="presOf" srcId="{A1A75BC5-2682-4CCD-B29D-D324959ADAAA}" destId="{5747B144-2D52-4449-B12F-775FC547A1EE}" srcOrd="1" destOrd="0" presId="urn:microsoft.com/office/officeart/2005/8/layout/vProcess5"/>
    <dgm:cxn modelId="{995CB850-B4EE-46B5-9977-49B23DB47A4C}" type="presOf" srcId="{9E9B17B0-8AE0-4F24-9087-1DAE66F3B6EA}" destId="{BA8304CB-E4F4-410E-A551-C2156228AC19}" srcOrd="1" destOrd="0" presId="urn:microsoft.com/office/officeart/2005/8/layout/vProcess5"/>
    <dgm:cxn modelId="{B9E64472-FA76-4EDE-A090-1CFE3A4C4971}" srcId="{E869851C-7046-4BB6-996A-AF41C90A5EB8}" destId="{9E9B17B0-8AE0-4F24-9087-1DAE66F3B6EA}" srcOrd="1" destOrd="0" parTransId="{5B936935-AE64-42A3-88F1-0195D6FD45E3}" sibTransId="{9997B7CB-BA3B-476A-B785-9A32044D434B}"/>
    <dgm:cxn modelId="{880DAE57-C060-42B4-90D9-F74969F99616}" type="presOf" srcId="{51DCFDF5-ACB4-4A24-864E-6CF7A8B2E382}" destId="{4F8389A2-290D-469C-8FAF-AC33324CF849}" srcOrd="1" destOrd="0" presId="urn:microsoft.com/office/officeart/2005/8/layout/vProcess5"/>
    <dgm:cxn modelId="{D48BA981-54B6-4815-B994-98C1C2FF1CC7}" type="presOf" srcId="{D1823577-A521-428C-8125-CBF559F6F038}" destId="{A1D0CADB-D5F0-405D-8D7D-42136CAD65DC}" srcOrd="0" destOrd="0" presId="urn:microsoft.com/office/officeart/2005/8/layout/vProcess5"/>
    <dgm:cxn modelId="{5ED2F681-EAC6-4BC0-8A3A-5ACAC3633A76}" type="presOf" srcId="{9E9B17B0-8AE0-4F24-9087-1DAE66F3B6EA}" destId="{F05C2A3E-7D7D-475C-B96F-7E331B2FF309}" srcOrd="0" destOrd="0" presId="urn:microsoft.com/office/officeart/2005/8/layout/vProcess5"/>
    <dgm:cxn modelId="{AE6C49C1-85B1-459B-B998-1EAE0DFEAAD5}" type="presOf" srcId="{51DCFDF5-ACB4-4A24-864E-6CF7A8B2E382}" destId="{E5FAA19C-7FDF-4B05-92FF-BBA7A040F793}" srcOrd="0" destOrd="0" presId="urn:microsoft.com/office/officeart/2005/8/layout/vProcess5"/>
    <dgm:cxn modelId="{8D7A22CF-1CF0-4FA4-A64D-D22237C32911}" type="presOf" srcId="{A1A75BC5-2682-4CCD-B29D-D324959ADAAA}" destId="{CD9C41D1-45E0-4C57-8AFD-062337A1C6BD}" srcOrd="0" destOrd="0" presId="urn:microsoft.com/office/officeart/2005/8/layout/vProcess5"/>
    <dgm:cxn modelId="{B46654D8-D295-420A-B872-2A53ACA6F482}" type="presOf" srcId="{E869851C-7046-4BB6-996A-AF41C90A5EB8}" destId="{4B624AEF-FCEF-46D2-81E2-7ACA4B5214D7}" srcOrd="0" destOrd="0" presId="urn:microsoft.com/office/officeart/2005/8/layout/vProcess5"/>
    <dgm:cxn modelId="{DB78A283-74E2-48EF-95A7-9634530C1B0F}" type="presParOf" srcId="{4B624AEF-FCEF-46D2-81E2-7ACA4B5214D7}" destId="{0053F579-4EEA-4099-AE00-400FB9E407CD}" srcOrd="0" destOrd="0" presId="urn:microsoft.com/office/officeart/2005/8/layout/vProcess5"/>
    <dgm:cxn modelId="{611B541B-B5E0-42F5-A9F8-D3EED9733226}" type="presParOf" srcId="{4B624AEF-FCEF-46D2-81E2-7ACA4B5214D7}" destId="{E5FAA19C-7FDF-4B05-92FF-BBA7A040F793}" srcOrd="1" destOrd="0" presId="urn:microsoft.com/office/officeart/2005/8/layout/vProcess5"/>
    <dgm:cxn modelId="{88FF36EA-3AA5-4476-920C-76FC00DB2920}" type="presParOf" srcId="{4B624AEF-FCEF-46D2-81E2-7ACA4B5214D7}" destId="{F05C2A3E-7D7D-475C-B96F-7E331B2FF309}" srcOrd="2" destOrd="0" presId="urn:microsoft.com/office/officeart/2005/8/layout/vProcess5"/>
    <dgm:cxn modelId="{4374D702-676D-4D7B-8FD6-1D044A19C0D2}" type="presParOf" srcId="{4B624AEF-FCEF-46D2-81E2-7ACA4B5214D7}" destId="{CD9C41D1-45E0-4C57-8AFD-062337A1C6BD}" srcOrd="3" destOrd="0" presId="urn:microsoft.com/office/officeart/2005/8/layout/vProcess5"/>
    <dgm:cxn modelId="{5AEEA723-8CEA-4395-988C-A88EAD8C5B24}" type="presParOf" srcId="{4B624AEF-FCEF-46D2-81E2-7ACA4B5214D7}" destId="{A1D0CADB-D5F0-405D-8D7D-42136CAD65DC}" srcOrd="4" destOrd="0" presId="urn:microsoft.com/office/officeart/2005/8/layout/vProcess5"/>
    <dgm:cxn modelId="{1F39EAC5-8020-4C91-9947-ADBFA01CBC53}" type="presParOf" srcId="{4B624AEF-FCEF-46D2-81E2-7ACA4B5214D7}" destId="{FD5A6051-214F-46FE-A3A9-ED6EEDAD86FE}" srcOrd="5" destOrd="0" presId="urn:microsoft.com/office/officeart/2005/8/layout/vProcess5"/>
    <dgm:cxn modelId="{88530C66-058D-4E96-BF62-4657942C3690}" type="presParOf" srcId="{4B624AEF-FCEF-46D2-81E2-7ACA4B5214D7}" destId="{4F8389A2-290D-469C-8FAF-AC33324CF849}" srcOrd="6" destOrd="0" presId="urn:microsoft.com/office/officeart/2005/8/layout/vProcess5"/>
    <dgm:cxn modelId="{0377BC93-DE33-4B1D-8E5E-4BBE2F63C44E}" type="presParOf" srcId="{4B624AEF-FCEF-46D2-81E2-7ACA4B5214D7}" destId="{BA8304CB-E4F4-410E-A551-C2156228AC19}" srcOrd="7" destOrd="0" presId="urn:microsoft.com/office/officeart/2005/8/layout/vProcess5"/>
    <dgm:cxn modelId="{E3E45F4F-7ED6-4D4B-AF5F-84B6DDB71EB5}" type="presParOf" srcId="{4B624AEF-FCEF-46D2-81E2-7ACA4B5214D7}" destId="{5747B144-2D52-4449-B12F-775FC547A1EE}"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16B24D-42FF-496A-9BB8-D409A5637771}" type="doc">
      <dgm:prSet loTypeId="urn:microsoft.com/office/officeart/2005/8/layout/bProcess4" loCatId="process" qsTypeId="urn:microsoft.com/office/officeart/2005/8/quickstyle/simple1" qsCatId="simple" csTypeId="urn:microsoft.com/office/officeart/2005/8/colors/accent2_2" csCatId="accent2" phldr="1"/>
      <dgm:spPr/>
      <dgm:t>
        <a:bodyPr/>
        <a:lstStyle/>
        <a:p>
          <a:endParaRPr lang="en-US"/>
        </a:p>
      </dgm:t>
    </dgm:pt>
    <dgm:pt modelId="{8B35233D-F630-4A06-A347-AA60E2BA3129}">
      <dgm:prSet/>
      <dgm:spPr>
        <a:solidFill>
          <a:schemeClr val="tx1">
            <a:lumMod val="50000"/>
            <a:lumOff val="50000"/>
          </a:schemeClr>
        </a:solidFill>
      </dgm:spPr>
      <dgm:t>
        <a:bodyPr/>
        <a:lstStyle/>
        <a:p>
          <a:r>
            <a:rPr lang="tr-TR" dirty="0"/>
            <a:t>Doğal kaynakların etkili kullanımı ve daha az atık,</a:t>
          </a:r>
          <a:endParaRPr lang="en-US" dirty="0"/>
        </a:p>
      </dgm:t>
    </dgm:pt>
    <dgm:pt modelId="{3A5CD07E-25C1-4A83-B967-DB255A41097D}" type="parTrans" cxnId="{2EF8CB4D-B6B4-480D-B7D6-3FEEE3E7724A}">
      <dgm:prSet/>
      <dgm:spPr/>
      <dgm:t>
        <a:bodyPr/>
        <a:lstStyle/>
        <a:p>
          <a:endParaRPr lang="en-US"/>
        </a:p>
      </dgm:t>
    </dgm:pt>
    <dgm:pt modelId="{898DF874-88A7-49C4-ACE6-9811AFD71BF0}" type="sibTrans" cxnId="{2EF8CB4D-B6B4-480D-B7D6-3FEEE3E7724A}">
      <dgm:prSet/>
      <dgm:spPr>
        <a:solidFill>
          <a:schemeClr val="tx1">
            <a:lumMod val="65000"/>
            <a:lumOff val="35000"/>
          </a:schemeClr>
        </a:solidFill>
      </dgm:spPr>
      <dgm:t>
        <a:bodyPr/>
        <a:lstStyle/>
        <a:p>
          <a:endParaRPr lang="en-US"/>
        </a:p>
      </dgm:t>
    </dgm:pt>
    <dgm:pt modelId="{D04D6B3E-CC19-4209-A8EB-D231B82E22D2}">
      <dgm:prSet/>
      <dgm:spPr>
        <a:solidFill>
          <a:schemeClr val="tx1">
            <a:lumMod val="50000"/>
            <a:lumOff val="50000"/>
          </a:schemeClr>
        </a:solidFill>
      </dgm:spPr>
      <dgm:t>
        <a:bodyPr/>
        <a:lstStyle/>
        <a:p>
          <a:r>
            <a:rPr lang="tr-TR"/>
            <a:t>Su kullanımını azaltmak,</a:t>
          </a:r>
          <a:endParaRPr lang="en-US"/>
        </a:p>
      </dgm:t>
    </dgm:pt>
    <dgm:pt modelId="{91A94B29-EF08-459A-BAE2-421331299917}" type="parTrans" cxnId="{4A04677F-E6D9-4339-9B20-4A311B872156}">
      <dgm:prSet/>
      <dgm:spPr/>
      <dgm:t>
        <a:bodyPr/>
        <a:lstStyle/>
        <a:p>
          <a:endParaRPr lang="en-US"/>
        </a:p>
      </dgm:t>
    </dgm:pt>
    <dgm:pt modelId="{51B9CFFF-911C-4245-AC09-033B74406C7C}" type="sibTrans" cxnId="{4A04677F-E6D9-4339-9B20-4A311B872156}">
      <dgm:prSet/>
      <dgm:spPr>
        <a:solidFill>
          <a:schemeClr val="tx1">
            <a:lumMod val="65000"/>
            <a:lumOff val="35000"/>
          </a:schemeClr>
        </a:solidFill>
      </dgm:spPr>
      <dgm:t>
        <a:bodyPr/>
        <a:lstStyle/>
        <a:p>
          <a:endParaRPr lang="en-US"/>
        </a:p>
      </dgm:t>
    </dgm:pt>
    <dgm:pt modelId="{7E2D7444-B024-461F-84B4-37943C1749BA}">
      <dgm:prSet/>
      <dgm:spPr>
        <a:solidFill>
          <a:schemeClr val="tx1">
            <a:lumMod val="50000"/>
            <a:lumOff val="50000"/>
          </a:schemeClr>
        </a:solidFill>
      </dgm:spPr>
      <dgm:t>
        <a:bodyPr/>
        <a:lstStyle/>
        <a:p>
          <a:r>
            <a:rPr lang="tr-TR" dirty="0"/>
            <a:t>Atıkların kaynağında azaltımı ilkesine uygun çalışmalar yapmak,</a:t>
          </a:r>
          <a:endParaRPr lang="en-US" dirty="0"/>
        </a:p>
      </dgm:t>
    </dgm:pt>
    <dgm:pt modelId="{8BCDC8EA-2585-4F23-BB93-567B16153C51}" type="parTrans" cxnId="{F6E36B16-100C-4BB3-AC33-1DBFEE18AB5E}">
      <dgm:prSet/>
      <dgm:spPr/>
      <dgm:t>
        <a:bodyPr/>
        <a:lstStyle/>
        <a:p>
          <a:endParaRPr lang="en-US"/>
        </a:p>
      </dgm:t>
    </dgm:pt>
    <dgm:pt modelId="{7A4DFE29-1057-4A43-9C93-8E60C0491D8E}" type="sibTrans" cxnId="{F6E36B16-100C-4BB3-AC33-1DBFEE18AB5E}">
      <dgm:prSet/>
      <dgm:spPr>
        <a:solidFill>
          <a:schemeClr val="tx1">
            <a:lumMod val="65000"/>
            <a:lumOff val="35000"/>
          </a:schemeClr>
        </a:solidFill>
      </dgm:spPr>
      <dgm:t>
        <a:bodyPr/>
        <a:lstStyle/>
        <a:p>
          <a:endParaRPr lang="en-US"/>
        </a:p>
      </dgm:t>
    </dgm:pt>
    <dgm:pt modelId="{FB46669F-A918-4EF9-BFD2-E48ED41128B6}">
      <dgm:prSet/>
      <dgm:spPr>
        <a:solidFill>
          <a:schemeClr val="tx1">
            <a:lumMod val="50000"/>
            <a:lumOff val="50000"/>
          </a:schemeClr>
        </a:solidFill>
      </dgm:spPr>
      <dgm:t>
        <a:bodyPr/>
        <a:lstStyle/>
        <a:p>
          <a:r>
            <a:rPr lang="tr-TR"/>
            <a:t>Faaliyetlerimizde temizlemek yerine kirletmemek ilkesi ile uyum içerisinde çalışmak,</a:t>
          </a:r>
          <a:endParaRPr lang="en-US"/>
        </a:p>
      </dgm:t>
    </dgm:pt>
    <dgm:pt modelId="{B54E1695-24F0-4DB0-8929-D8E18C416501}" type="parTrans" cxnId="{E62D5E95-BD46-4D31-9D95-132E3A6DA6DD}">
      <dgm:prSet/>
      <dgm:spPr/>
      <dgm:t>
        <a:bodyPr/>
        <a:lstStyle/>
        <a:p>
          <a:endParaRPr lang="en-US"/>
        </a:p>
      </dgm:t>
    </dgm:pt>
    <dgm:pt modelId="{701C33C9-AA08-4AA2-B261-9C63A0F7A2C3}" type="sibTrans" cxnId="{E62D5E95-BD46-4D31-9D95-132E3A6DA6DD}">
      <dgm:prSet/>
      <dgm:spPr>
        <a:solidFill>
          <a:schemeClr val="tx1">
            <a:lumMod val="65000"/>
            <a:lumOff val="35000"/>
          </a:schemeClr>
        </a:solidFill>
      </dgm:spPr>
      <dgm:t>
        <a:bodyPr/>
        <a:lstStyle/>
        <a:p>
          <a:endParaRPr lang="en-US"/>
        </a:p>
      </dgm:t>
    </dgm:pt>
    <dgm:pt modelId="{1981EAA6-26C6-40BC-91D5-B7D078944332}">
      <dgm:prSet/>
      <dgm:spPr>
        <a:solidFill>
          <a:schemeClr val="tx1">
            <a:lumMod val="50000"/>
            <a:lumOff val="50000"/>
          </a:schemeClr>
        </a:solidFill>
      </dgm:spPr>
      <dgm:t>
        <a:bodyPr/>
        <a:lstStyle/>
        <a:p>
          <a:r>
            <a:rPr lang="tr-TR"/>
            <a:t>Faaliyetlerimizden kaynaklanan, karbondioksit başta olmak üzere tüm sera gazlarının salınımı azaltmak,</a:t>
          </a:r>
          <a:endParaRPr lang="en-US"/>
        </a:p>
      </dgm:t>
    </dgm:pt>
    <dgm:pt modelId="{CC95D462-F9E5-43B5-AFC4-9F217BCCAD24}" type="parTrans" cxnId="{0DF66976-0807-405E-A42A-95E8135982C8}">
      <dgm:prSet/>
      <dgm:spPr/>
      <dgm:t>
        <a:bodyPr/>
        <a:lstStyle/>
        <a:p>
          <a:endParaRPr lang="en-US"/>
        </a:p>
      </dgm:t>
    </dgm:pt>
    <dgm:pt modelId="{7A85FF40-AA92-432A-B2B9-66C4CA8B46E4}" type="sibTrans" cxnId="{0DF66976-0807-405E-A42A-95E8135982C8}">
      <dgm:prSet/>
      <dgm:spPr>
        <a:solidFill>
          <a:schemeClr val="tx1">
            <a:lumMod val="65000"/>
            <a:lumOff val="35000"/>
          </a:schemeClr>
        </a:solidFill>
      </dgm:spPr>
      <dgm:t>
        <a:bodyPr/>
        <a:lstStyle/>
        <a:p>
          <a:endParaRPr lang="en-US"/>
        </a:p>
      </dgm:t>
    </dgm:pt>
    <dgm:pt modelId="{C9F5F914-B2F3-44B1-9332-CB05C0D3DAD1}">
      <dgm:prSet/>
      <dgm:spPr>
        <a:solidFill>
          <a:schemeClr val="tx1">
            <a:lumMod val="50000"/>
            <a:lumOff val="50000"/>
          </a:schemeClr>
        </a:solidFill>
      </dgm:spPr>
      <dgm:t>
        <a:bodyPr/>
        <a:lstStyle/>
        <a:p>
          <a:r>
            <a:rPr lang="tr-TR"/>
            <a:t>Yenilenebilir ve verimli enerji kullanmak,</a:t>
          </a:r>
          <a:endParaRPr lang="en-US"/>
        </a:p>
      </dgm:t>
    </dgm:pt>
    <dgm:pt modelId="{CF44E46E-940C-4247-AFB7-E529EDCE9EB8}" type="parTrans" cxnId="{807E7C35-2CE3-4ED9-8BAB-68C84C0BC884}">
      <dgm:prSet/>
      <dgm:spPr/>
      <dgm:t>
        <a:bodyPr/>
        <a:lstStyle/>
        <a:p>
          <a:endParaRPr lang="en-US"/>
        </a:p>
      </dgm:t>
    </dgm:pt>
    <dgm:pt modelId="{E555E4C1-CBE2-45FB-B3E8-46FBBA2CCE68}" type="sibTrans" cxnId="{807E7C35-2CE3-4ED9-8BAB-68C84C0BC884}">
      <dgm:prSet/>
      <dgm:spPr>
        <a:solidFill>
          <a:schemeClr val="tx1">
            <a:lumMod val="65000"/>
            <a:lumOff val="35000"/>
          </a:schemeClr>
        </a:solidFill>
      </dgm:spPr>
      <dgm:t>
        <a:bodyPr/>
        <a:lstStyle/>
        <a:p>
          <a:endParaRPr lang="en-US"/>
        </a:p>
      </dgm:t>
    </dgm:pt>
    <dgm:pt modelId="{1027E5CE-16AD-48DF-818E-EEFAFA1CC12C}">
      <dgm:prSet/>
      <dgm:spPr>
        <a:solidFill>
          <a:schemeClr val="tx1">
            <a:lumMod val="50000"/>
            <a:lumOff val="50000"/>
          </a:schemeClr>
        </a:solidFill>
      </dgm:spPr>
      <dgm:t>
        <a:bodyPr/>
        <a:lstStyle/>
        <a:p>
          <a:r>
            <a:rPr lang="tr-TR"/>
            <a:t>Su Güvenliği kriterlerine uygun hareket etmek, kişi başı su tüketimini azaltmak, tesislerimizde düzenli su analizlerini ve rutin kontrolleri yaparak çevremize zararsız halde Atık Su hattına gönderilmesini sağlamak,</a:t>
          </a:r>
          <a:endParaRPr lang="en-US"/>
        </a:p>
      </dgm:t>
    </dgm:pt>
    <dgm:pt modelId="{F302388F-D74E-4ABE-8A05-0B8527F26A60}" type="parTrans" cxnId="{0DEFA6F2-315F-4401-B36A-3AA1E59B8A80}">
      <dgm:prSet/>
      <dgm:spPr/>
      <dgm:t>
        <a:bodyPr/>
        <a:lstStyle/>
        <a:p>
          <a:endParaRPr lang="en-US"/>
        </a:p>
      </dgm:t>
    </dgm:pt>
    <dgm:pt modelId="{B4F294C0-5A0A-40E3-A827-17D657A0BEAE}" type="sibTrans" cxnId="{0DEFA6F2-315F-4401-B36A-3AA1E59B8A80}">
      <dgm:prSet/>
      <dgm:spPr>
        <a:solidFill>
          <a:schemeClr val="tx1">
            <a:lumMod val="65000"/>
            <a:lumOff val="35000"/>
          </a:schemeClr>
        </a:solidFill>
      </dgm:spPr>
      <dgm:t>
        <a:bodyPr/>
        <a:lstStyle/>
        <a:p>
          <a:endParaRPr lang="en-US"/>
        </a:p>
      </dgm:t>
    </dgm:pt>
    <dgm:pt modelId="{7164A872-689D-484E-A25C-32AFED7FEF51}">
      <dgm:prSet/>
      <dgm:spPr>
        <a:solidFill>
          <a:schemeClr val="tx1">
            <a:lumMod val="50000"/>
            <a:lumOff val="50000"/>
          </a:schemeClr>
        </a:solidFill>
      </dgm:spPr>
      <dgm:t>
        <a:bodyPr/>
        <a:lstStyle/>
        <a:p>
          <a:r>
            <a:rPr lang="tr-TR" dirty="0"/>
            <a:t>Tesislerimizin tüm faaliyetlerinde, Yöresel ve Yerli Ürünlere öncelik vermek, Ülkesel ve Global ekonominin sağlıklı büyümesine katkıda bulunmak,</a:t>
          </a:r>
          <a:endParaRPr lang="en-US" dirty="0"/>
        </a:p>
      </dgm:t>
    </dgm:pt>
    <dgm:pt modelId="{74233D24-FB2E-417D-BE3E-AA70EC4B3E94}" type="parTrans" cxnId="{6CF27C29-656F-4B10-BA52-EE005347ED33}">
      <dgm:prSet/>
      <dgm:spPr/>
      <dgm:t>
        <a:bodyPr/>
        <a:lstStyle/>
        <a:p>
          <a:endParaRPr lang="en-US"/>
        </a:p>
      </dgm:t>
    </dgm:pt>
    <dgm:pt modelId="{D36A6755-41C9-4365-BB3C-6469E93F6BD3}" type="sibTrans" cxnId="{6CF27C29-656F-4B10-BA52-EE005347ED33}">
      <dgm:prSet/>
      <dgm:spPr>
        <a:solidFill>
          <a:schemeClr val="tx1">
            <a:lumMod val="65000"/>
            <a:lumOff val="35000"/>
          </a:schemeClr>
        </a:solidFill>
      </dgm:spPr>
      <dgm:t>
        <a:bodyPr/>
        <a:lstStyle/>
        <a:p>
          <a:endParaRPr lang="en-US"/>
        </a:p>
      </dgm:t>
    </dgm:pt>
    <dgm:pt modelId="{F565AFF8-CF79-47FD-A6DF-3535847CF27D}">
      <dgm:prSet/>
      <dgm:spPr>
        <a:solidFill>
          <a:schemeClr val="tx1">
            <a:lumMod val="50000"/>
            <a:lumOff val="50000"/>
          </a:schemeClr>
        </a:solidFill>
      </dgm:spPr>
      <dgm:t>
        <a:bodyPr/>
        <a:lstStyle/>
        <a:p>
          <a:r>
            <a:rPr lang="tr-TR"/>
            <a:t>Tüm misafirlerimize yörenin Doğal ve Kültürel Miraslarını ve Eserlerini tanıtmak,</a:t>
          </a:r>
          <a:endParaRPr lang="en-US"/>
        </a:p>
      </dgm:t>
    </dgm:pt>
    <dgm:pt modelId="{F51352E1-82EC-4B03-B830-A7A8E4E7BEBD}" type="parTrans" cxnId="{EB8FEE16-F330-4A57-9119-FE5DB6FFF34F}">
      <dgm:prSet/>
      <dgm:spPr/>
      <dgm:t>
        <a:bodyPr/>
        <a:lstStyle/>
        <a:p>
          <a:endParaRPr lang="en-US"/>
        </a:p>
      </dgm:t>
    </dgm:pt>
    <dgm:pt modelId="{D65F4607-992C-4F75-BA26-8A1E7E7812A5}" type="sibTrans" cxnId="{EB8FEE16-F330-4A57-9119-FE5DB6FFF34F}">
      <dgm:prSet/>
      <dgm:spPr>
        <a:solidFill>
          <a:schemeClr val="tx1">
            <a:lumMod val="65000"/>
            <a:lumOff val="35000"/>
          </a:schemeClr>
        </a:solidFill>
      </dgm:spPr>
      <dgm:t>
        <a:bodyPr/>
        <a:lstStyle/>
        <a:p>
          <a:endParaRPr lang="en-US"/>
        </a:p>
      </dgm:t>
    </dgm:pt>
    <dgm:pt modelId="{D749842F-5609-4F38-A810-79E5B7900C21}">
      <dgm:prSet/>
      <dgm:spPr>
        <a:solidFill>
          <a:schemeClr val="tx1">
            <a:lumMod val="50000"/>
            <a:lumOff val="50000"/>
          </a:schemeClr>
        </a:solidFill>
      </dgm:spPr>
      <dgm:t>
        <a:bodyPr/>
        <a:lstStyle/>
        <a:p>
          <a:r>
            <a:rPr lang="tr-TR"/>
            <a:t>Yöre Halkının yaşam kalitesine pozitif etki edecek çalışmalar yapmak ve yöresel dokuyu korumak,</a:t>
          </a:r>
          <a:endParaRPr lang="en-US"/>
        </a:p>
      </dgm:t>
    </dgm:pt>
    <dgm:pt modelId="{4FE103CD-7878-4D98-B87E-7B19A1E8D214}" type="parTrans" cxnId="{E1DFCC9B-A0D9-4A59-BFAF-5382A7DA769F}">
      <dgm:prSet/>
      <dgm:spPr/>
      <dgm:t>
        <a:bodyPr/>
        <a:lstStyle/>
        <a:p>
          <a:endParaRPr lang="en-US"/>
        </a:p>
      </dgm:t>
    </dgm:pt>
    <dgm:pt modelId="{DE09047F-0F25-4E74-ABBD-6C77CAFE6D2A}" type="sibTrans" cxnId="{E1DFCC9B-A0D9-4A59-BFAF-5382A7DA769F}">
      <dgm:prSet/>
      <dgm:spPr/>
      <dgm:t>
        <a:bodyPr/>
        <a:lstStyle/>
        <a:p>
          <a:endParaRPr lang="en-US"/>
        </a:p>
      </dgm:t>
    </dgm:pt>
    <dgm:pt modelId="{51A8A6A9-0CC1-4866-BC91-982964449625}" type="pres">
      <dgm:prSet presAssocID="{EC16B24D-42FF-496A-9BB8-D409A5637771}" presName="Name0" presStyleCnt="0">
        <dgm:presLayoutVars>
          <dgm:dir/>
          <dgm:resizeHandles/>
        </dgm:presLayoutVars>
      </dgm:prSet>
      <dgm:spPr/>
    </dgm:pt>
    <dgm:pt modelId="{EFEFCB32-5A58-41A1-88D3-4D65BD4E837E}" type="pres">
      <dgm:prSet presAssocID="{8B35233D-F630-4A06-A347-AA60E2BA3129}" presName="compNode" presStyleCnt="0"/>
      <dgm:spPr/>
    </dgm:pt>
    <dgm:pt modelId="{BF2510BF-C5CD-482A-B823-6D39865168A6}" type="pres">
      <dgm:prSet presAssocID="{8B35233D-F630-4A06-A347-AA60E2BA3129}" presName="dummyConnPt" presStyleCnt="0"/>
      <dgm:spPr/>
    </dgm:pt>
    <dgm:pt modelId="{C475CF02-ACE5-4E50-B0D2-93E678C39F90}" type="pres">
      <dgm:prSet presAssocID="{8B35233D-F630-4A06-A347-AA60E2BA3129}" presName="node" presStyleLbl="node1" presStyleIdx="0" presStyleCnt="10">
        <dgm:presLayoutVars>
          <dgm:bulletEnabled val="1"/>
        </dgm:presLayoutVars>
      </dgm:prSet>
      <dgm:spPr/>
    </dgm:pt>
    <dgm:pt modelId="{8413A3E0-AB73-49CD-9D8A-181E81A262A4}" type="pres">
      <dgm:prSet presAssocID="{898DF874-88A7-49C4-ACE6-9811AFD71BF0}" presName="sibTrans" presStyleLbl="bgSibTrans2D1" presStyleIdx="0" presStyleCnt="9"/>
      <dgm:spPr/>
    </dgm:pt>
    <dgm:pt modelId="{5E9F0C5E-8FA3-4501-9566-8FA09D089BDE}" type="pres">
      <dgm:prSet presAssocID="{D04D6B3E-CC19-4209-A8EB-D231B82E22D2}" presName="compNode" presStyleCnt="0"/>
      <dgm:spPr/>
    </dgm:pt>
    <dgm:pt modelId="{CB029A7D-EEB1-4149-8033-D3631C09F645}" type="pres">
      <dgm:prSet presAssocID="{D04D6B3E-CC19-4209-A8EB-D231B82E22D2}" presName="dummyConnPt" presStyleCnt="0"/>
      <dgm:spPr/>
    </dgm:pt>
    <dgm:pt modelId="{A2770A91-F368-4F02-AECB-B301A88B7C3F}" type="pres">
      <dgm:prSet presAssocID="{D04D6B3E-CC19-4209-A8EB-D231B82E22D2}" presName="node" presStyleLbl="node1" presStyleIdx="1" presStyleCnt="10">
        <dgm:presLayoutVars>
          <dgm:bulletEnabled val="1"/>
        </dgm:presLayoutVars>
      </dgm:prSet>
      <dgm:spPr/>
    </dgm:pt>
    <dgm:pt modelId="{343CB9BB-F782-46AD-B389-CEF0B98EF3E4}" type="pres">
      <dgm:prSet presAssocID="{51B9CFFF-911C-4245-AC09-033B74406C7C}" presName="sibTrans" presStyleLbl="bgSibTrans2D1" presStyleIdx="1" presStyleCnt="9"/>
      <dgm:spPr/>
    </dgm:pt>
    <dgm:pt modelId="{30EF343C-CD86-43B0-B6EC-D69F560D1113}" type="pres">
      <dgm:prSet presAssocID="{7E2D7444-B024-461F-84B4-37943C1749BA}" presName="compNode" presStyleCnt="0"/>
      <dgm:spPr/>
    </dgm:pt>
    <dgm:pt modelId="{CE286084-4E15-4B57-B99E-19B999EB3A5A}" type="pres">
      <dgm:prSet presAssocID="{7E2D7444-B024-461F-84B4-37943C1749BA}" presName="dummyConnPt" presStyleCnt="0"/>
      <dgm:spPr/>
    </dgm:pt>
    <dgm:pt modelId="{53547D0E-4852-4BC3-8E7A-E9881D19CC98}" type="pres">
      <dgm:prSet presAssocID="{7E2D7444-B024-461F-84B4-37943C1749BA}" presName="node" presStyleLbl="node1" presStyleIdx="2" presStyleCnt="10">
        <dgm:presLayoutVars>
          <dgm:bulletEnabled val="1"/>
        </dgm:presLayoutVars>
      </dgm:prSet>
      <dgm:spPr/>
    </dgm:pt>
    <dgm:pt modelId="{2D3D029C-6D6F-425E-8B5B-456D9A9AA88F}" type="pres">
      <dgm:prSet presAssocID="{7A4DFE29-1057-4A43-9C93-8E60C0491D8E}" presName="sibTrans" presStyleLbl="bgSibTrans2D1" presStyleIdx="2" presStyleCnt="9"/>
      <dgm:spPr/>
    </dgm:pt>
    <dgm:pt modelId="{4B4DACC7-D712-42F7-ACAB-3C0CA49B54EE}" type="pres">
      <dgm:prSet presAssocID="{FB46669F-A918-4EF9-BFD2-E48ED41128B6}" presName="compNode" presStyleCnt="0"/>
      <dgm:spPr/>
    </dgm:pt>
    <dgm:pt modelId="{D5EC1F93-89C7-4233-834F-E648DAD2197E}" type="pres">
      <dgm:prSet presAssocID="{FB46669F-A918-4EF9-BFD2-E48ED41128B6}" presName="dummyConnPt" presStyleCnt="0"/>
      <dgm:spPr/>
    </dgm:pt>
    <dgm:pt modelId="{E83BDB62-334A-4A34-BEB9-AEF86F73846D}" type="pres">
      <dgm:prSet presAssocID="{FB46669F-A918-4EF9-BFD2-E48ED41128B6}" presName="node" presStyleLbl="node1" presStyleIdx="3" presStyleCnt="10">
        <dgm:presLayoutVars>
          <dgm:bulletEnabled val="1"/>
        </dgm:presLayoutVars>
      </dgm:prSet>
      <dgm:spPr/>
    </dgm:pt>
    <dgm:pt modelId="{FD813E9D-AB6A-4502-A6AB-AF70F151776C}" type="pres">
      <dgm:prSet presAssocID="{701C33C9-AA08-4AA2-B261-9C63A0F7A2C3}" presName="sibTrans" presStyleLbl="bgSibTrans2D1" presStyleIdx="3" presStyleCnt="9"/>
      <dgm:spPr/>
    </dgm:pt>
    <dgm:pt modelId="{7C0D8773-B06B-40BF-A751-A61B6F05A65D}" type="pres">
      <dgm:prSet presAssocID="{1981EAA6-26C6-40BC-91D5-B7D078944332}" presName="compNode" presStyleCnt="0"/>
      <dgm:spPr/>
    </dgm:pt>
    <dgm:pt modelId="{F70D6CAD-2390-44B1-800A-2E31281261FF}" type="pres">
      <dgm:prSet presAssocID="{1981EAA6-26C6-40BC-91D5-B7D078944332}" presName="dummyConnPt" presStyleCnt="0"/>
      <dgm:spPr/>
    </dgm:pt>
    <dgm:pt modelId="{4558DD25-2A60-40A2-9F29-69DFCEE29BEF}" type="pres">
      <dgm:prSet presAssocID="{1981EAA6-26C6-40BC-91D5-B7D078944332}" presName="node" presStyleLbl="node1" presStyleIdx="4" presStyleCnt="10">
        <dgm:presLayoutVars>
          <dgm:bulletEnabled val="1"/>
        </dgm:presLayoutVars>
      </dgm:prSet>
      <dgm:spPr/>
    </dgm:pt>
    <dgm:pt modelId="{EA38B5E2-0F39-4C5C-AB59-7ABD2D8FC655}" type="pres">
      <dgm:prSet presAssocID="{7A85FF40-AA92-432A-B2B9-66C4CA8B46E4}" presName="sibTrans" presStyleLbl="bgSibTrans2D1" presStyleIdx="4" presStyleCnt="9"/>
      <dgm:spPr/>
    </dgm:pt>
    <dgm:pt modelId="{8965B1E1-F19D-4380-BC4E-88E0AA7B6860}" type="pres">
      <dgm:prSet presAssocID="{C9F5F914-B2F3-44B1-9332-CB05C0D3DAD1}" presName="compNode" presStyleCnt="0"/>
      <dgm:spPr/>
    </dgm:pt>
    <dgm:pt modelId="{E75B8B57-3764-4183-A945-092AA4EA7896}" type="pres">
      <dgm:prSet presAssocID="{C9F5F914-B2F3-44B1-9332-CB05C0D3DAD1}" presName="dummyConnPt" presStyleCnt="0"/>
      <dgm:spPr/>
    </dgm:pt>
    <dgm:pt modelId="{A2E8F6D2-5A78-4B8B-8C87-7C80A864666A}" type="pres">
      <dgm:prSet presAssocID="{C9F5F914-B2F3-44B1-9332-CB05C0D3DAD1}" presName="node" presStyleLbl="node1" presStyleIdx="5" presStyleCnt="10">
        <dgm:presLayoutVars>
          <dgm:bulletEnabled val="1"/>
        </dgm:presLayoutVars>
      </dgm:prSet>
      <dgm:spPr/>
    </dgm:pt>
    <dgm:pt modelId="{F2803819-C6B5-4357-A1ED-776B4C3ACC9D}" type="pres">
      <dgm:prSet presAssocID="{E555E4C1-CBE2-45FB-B3E8-46FBBA2CCE68}" presName="sibTrans" presStyleLbl="bgSibTrans2D1" presStyleIdx="5" presStyleCnt="9"/>
      <dgm:spPr/>
    </dgm:pt>
    <dgm:pt modelId="{4661714A-6AEC-4906-BAB6-B126335944A8}" type="pres">
      <dgm:prSet presAssocID="{1027E5CE-16AD-48DF-818E-EEFAFA1CC12C}" presName="compNode" presStyleCnt="0"/>
      <dgm:spPr/>
    </dgm:pt>
    <dgm:pt modelId="{F9436148-47FE-48A2-8EAB-2D6A49249B0E}" type="pres">
      <dgm:prSet presAssocID="{1027E5CE-16AD-48DF-818E-EEFAFA1CC12C}" presName="dummyConnPt" presStyleCnt="0"/>
      <dgm:spPr/>
    </dgm:pt>
    <dgm:pt modelId="{43745B92-441E-4E94-9053-EF06046041FC}" type="pres">
      <dgm:prSet presAssocID="{1027E5CE-16AD-48DF-818E-EEFAFA1CC12C}" presName="node" presStyleLbl="node1" presStyleIdx="6" presStyleCnt="10" custLinFactNeighborX="1473">
        <dgm:presLayoutVars>
          <dgm:bulletEnabled val="1"/>
        </dgm:presLayoutVars>
      </dgm:prSet>
      <dgm:spPr/>
    </dgm:pt>
    <dgm:pt modelId="{EC18530D-0F6A-4CD8-BDC5-216F9BD55821}" type="pres">
      <dgm:prSet presAssocID="{B4F294C0-5A0A-40E3-A827-17D657A0BEAE}" presName="sibTrans" presStyleLbl="bgSibTrans2D1" presStyleIdx="6" presStyleCnt="9"/>
      <dgm:spPr/>
    </dgm:pt>
    <dgm:pt modelId="{2F893436-4079-48A9-9B9A-EF8DDB693A2C}" type="pres">
      <dgm:prSet presAssocID="{7164A872-689D-484E-A25C-32AFED7FEF51}" presName="compNode" presStyleCnt="0"/>
      <dgm:spPr/>
    </dgm:pt>
    <dgm:pt modelId="{1AC1830A-9AE8-4868-86FF-EE2F6AE137E4}" type="pres">
      <dgm:prSet presAssocID="{7164A872-689D-484E-A25C-32AFED7FEF51}" presName="dummyConnPt" presStyleCnt="0"/>
      <dgm:spPr/>
    </dgm:pt>
    <dgm:pt modelId="{ED154484-A11C-40F5-AD06-856456138A2B}" type="pres">
      <dgm:prSet presAssocID="{7164A872-689D-484E-A25C-32AFED7FEF51}" presName="node" presStyleLbl="node1" presStyleIdx="7" presStyleCnt="10">
        <dgm:presLayoutVars>
          <dgm:bulletEnabled val="1"/>
        </dgm:presLayoutVars>
      </dgm:prSet>
      <dgm:spPr/>
    </dgm:pt>
    <dgm:pt modelId="{3CAABBAD-4F12-4A21-A4F2-E9600F93DEC8}" type="pres">
      <dgm:prSet presAssocID="{D36A6755-41C9-4365-BB3C-6469E93F6BD3}" presName="sibTrans" presStyleLbl="bgSibTrans2D1" presStyleIdx="7" presStyleCnt="9"/>
      <dgm:spPr/>
    </dgm:pt>
    <dgm:pt modelId="{C4723206-928B-4090-8392-9C3D75260A5C}" type="pres">
      <dgm:prSet presAssocID="{F565AFF8-CF79-47FD-A6DF-3535847CF27D}" presName="compNode" presStyleCnt="0"/>
      <dgm:spPr/>
    </dgm:pt>
    <dgm:pt modelId="{BAA09CB3-842E-4B6B-9D4B-F9AFE8E96E3C}" type="pres">
      <dgm:prSet presAssocID="{F565AFF8-CF79-47FD-A6DF-3535847CF27D}" presName="dummyConnPt" presStyleCnt="0"/>
      <dgm:spPr/>
    </dgm:pt>
    <dgm:pt modelId="{E7840305-2B6E-4B17-B362-CC6E7E55DF4B}" type="pres">
      <dgm:prSet presAssocID="{F565AFF8-CF79-47FD-A6DF-3535847CF27D}" presName="node" presStyleLbl="node1" presStyleIdx="8" presStyleCnt="10">
        <dgm:presLayoutVars>
          <dgm:bulletEnabled val="1"/>
        </dgm:presLayoutVars>
      </dgm:prSet>
      <dgm:spPr/>
    </dgm:pt>
    <dgm:pt modelId="{3E8FD20F-C819-4F3D-877C-EE84C0F3FBBA}" type="pres">
      <dgm:prSet presAssocID="{D65F4607-992C-4F75-BA26-8A1E7E7812A5}" presName="sibTrans" presStyleLbl="bgSibTrans2D1" presStyleIdx="8" presStyleCnt="9"/>
      <dgm:spPr/>
    </dgm:pt>
    <dgm:pt modelId="{9DA65366-10BA-4E39-8689-ED7501D11C33}" type="pres">
      <dgm:prSet presAssocID="{D749842F-5609-4F38-A810-79E5B7900C21}" presName="compNode" presStyleCnt="0"/>
      <dgm:spPr/>
    </dgm:pt>
    <dgm:pt modelId="{E5A3385F-2357-4F93-8065-379535AB50EA}" type="pres">
      <dgm:prSet presAssocID="{D749842F-5609-4F38-A810-79E5B7900C21}" presName="dummyConnPt" presStyleCnt="0"/>
      <dgm:spPr/>
    </dgm:pt>
    <dgm:pt modelId="{8F3B32D2-3B77-4B30-9861-9F2A3571EDA3}" type="pres">
      <dgm:prSet presAssocID="{D749842F-5609-4F38-A810-79E5B7900C21}" presName="node" presStyleLbl="node1" presStyleIdx="9" presStyleCnt="10">
        <dgm:presLayoutVars>
          <dgm:bulletEnabled val="1"/>
        </dgm:presLayoutVars>
      </dgm:prSet>
      <dgm:spPr/>
    </dgm:pt>
  </dgm:ptLst>
  <dgm:cxnLst>
    <dgm:cxn modelId="{8616EF10-3346-4C90-B715-E6F72295F4E4}" type="presOf" srcId="{C9F5F914-B2F3-44B1-9332-CB05C0D3DAD1}" destId="{A2E8F6D2-5A78-4B8B-8C87-7C80A864666A}" srcOrd="0" destOrd="0" presId="urn:microsoft.com/office/officeart/2005/8/layout/bProcess4"/>
    <dgm:cxn modelId="{F6E36B16-100C-4BB3-AC33-1DBFEE18AB5E}" srcId="{EC16B24D-42FF-496A-9BB8-D409A5637771}" destId="{7E2D7444-B024-461F-84B4-37943C1749BA}" srcOrd="2" destOrd="0" parTransId="{8BCDC8EA-2585-4F23-BB93-567B16153C51}" sibTransId="{7A4DFE29-1057-4A43-9C93-8E60C0491D8E}"/>
    <dgm:cxn modelId="{EB8FEE16-F330-4A57-9119-FE5DB6FFF34F}" srcId="{EC16B24D-42FF-496A-9BB8-D409A5637771}" destId="{F565AFF8-CF79-47FD-A6DF-3535847CF27D}" srcOrd="8" destOrd="0" parTransId="{F51352E1-82EC-4B03-B830-A7A8E4E7BEBD}" sibTransId="{D65F4607-992C-4F75-BA26-8A1E7E7812A5}"/>
    <dgm:cxn modelId="{4A24B327-6F47-4775-9B5F-1BEA9C4DA1E3}" type="presOf" srcId="{D04D6B3E-CC19-4209-A8EB-D231B82E22D2}" destId="{A2770A91-F368-4F02-AECB-B301A88B7C3F}" srcOrd="0" destOrd="0" presId="urn:microsoft.com/office/officeart/2005/8/layout/bProcess4"/>
    <dgm:cxn modelId="{6CF27C29-656F-4B10-BA52-EE005347ED33}" srcId="{EC16B24D-42FF-496A-9BB8-D409A5637771}" destId="{7164A872-689D-484E-A25C-32AFED7FEF51}" srcOrd="7" destOrd="0" parTransId="{74233D24-FB2E-417D-BE3E-AA70EC4B3E94}" sibTransId="{D36A6755-41C9-4365-BB3C-6469E93F6BD3}"/>
    <dgm:cxn modelId="{D162642D-7112-4DDC-AFFA-4EEE6CBFFBBD}" type="presOf" srcId="{FB46669F-A918-4EF9-BFD2-E48ED41128B6}" destId="{E83BDB62-334A-4A34-BEB9-AEF86F73846D}" srcOrd="0" destOrd="0" presId="urn:microsoft.com/office/officeart/2005/8/layout/bProcess4"/>
    <dgm:cxn modelId="{807E7C35-2CE3-4ED9-8BAB-68C84C0BC884}" srcId="{EC16B24D-42FF-496A-9BB8-D409A5637771}" destId="{C9F5F914-B2F3-44B1-9332-CB05C0D3DAD1}" srcOrd="5" destOrd="0" parTransId="{CF44E46E-940C-4247-AFB7-E529EDCE9EB8}" sibTransId="{E555E4C1-CBE2-45FB-B3E8-46FBBA2CCE68}"/>
    <dgm:cxn modelId="{F277A469-932B-4B6B-AD1D-73348486F0DD}" type="presOf" srcId="{D65F4607-992C-4F75-BA26-8A1E7E7812A5}" destId="{3E8FD20F-C819-4F3D-877C-EE84C0F3FBBA}" srcOrd="0" destOrd="0" presId="urn:microsoft.com/office/officeart/2005/8/layout/bProcess4"/>
    <dgm:cxn modelId="{2EF8CB4D-B6B4-480D-B7D6-3FEEE3E7724A}" srcId="{EC16B24D-42FF-496A-9BB8-D409A5637771}" destId="{8B35233D-F630-4A06-A347-AA60E2BA3129}" srcOrd="0" destOrd="0" parTransId="{3A5CD07E-25C1-4A83-B967-DB255A41097D}" sibTransId="{898DF874-88A7-49C4-ACE6-9811AFD71BF0}"/>
    <dgm:cxn modelId="{9B42C354-C1CA-466E-8745-C4231A626D8C}" type="presOf" srcId="{701C33C9-AA08-4AA2-B261-9C63A0F7A2C3}" destId="{FD813E9D-AB6A-4502-A6AB-AF70F151776C}" srcOrd="0" destOrd="0" presId="urn:microsoft.com/office/officeart/2005/8/layout/bProcess4"/>
    <dgm:cxn modelId="{0DF66976-0807-405E-A42A-95E8135982C8}" srcId="{EC16B24D-42FF-496A-9BB8-D409A5637771}" destId="{1981EAA6-26C6-40BC-91D5-B7D078944332}" srcOrd="4" destOrd="0" parTransId="{CC95D462-F9E5-43B5-AFC4-9F217BCCAD24}" sibTransId="{7A85FF40-AA92-432A-B2B9-66C4CA8B46E4}"/>
    <dgm:cxn modelId="{225FEC57-5DB9-4DF8-AFA9-058147CAF72B}" type="presOf" srcId="{898DF874-88A7-49C4-ACE6-9811AFD71BF0}" destId="{8413A3E0-AB73-49CD-9D8A-181E81A262A4}" srcOrd="0" destOrd="0" presId="urn:microsoft.com/office/officeart/2005/8/layout/bProcess4"/>
    <dgm:cxn modelId="{1065BA78-3ACC-4527-9AEB-D1305E2DF006}" type="presOf" srcId="{7E2D7444-B024-461F-84B4-37943C1749BA}" destId="{53547D0E-4852-4BC3-8E7A-E9881D19CC98}" srcOrd="0" destOrd="0" presId="urn:microsoft.com/office/officeart/2005/8/layout/bProcess4"/>
    <dgm:cxn modelId="{E1B2327A-6CF2-4D12-A1A4-353E87225374}" type="presOf" srcId="{B4F294C0-5A0A-40E3-A827-17D657A0BEAE}" destId="{EC18530D-0F6A-4CD8-BDC5-216F9BD55821}" srcOrd="0" destOrd="0" presId="urn:microsoft.com/office/officeart/2005/8/layout/bProcess4"/>
    <dgm:cxn modelId="{4A04677F-E6D9-4339-9B20-4A311B872156}" srcId="{EC16B24D-42FF-496A-9BB8-D409A5637771}" destId="{D04D6B3E-CC19-4209-A8EB-D231B82E22D2}" srcOrd="1" destOrd="0" parTransId="{91A94B29-EF08-459A-BAE2-421331299917}" sibTransId="{51B9CFFF-911C-4245-AC09-033B74406C7C}"/>
    <dgm:cxn modelId="{592D0E82-7645-4E13-B786-89D218A1E08F}" type="presOf" srcId="{E555E4C1-CBE2-45FB-B3E8-46FBBA2CCE68}" destId="{F2803819-C6B5-4357-A1ED-776B4C3ACC9D}" srcOrd="0" destOrd="0" presId="urn:microsoft.com/office/officeart/2005/8/layout/bProcess4"/>
    <dgm:cxn modelId="{E62D5E95-BD46-4D31-9D95-132E3A6DA6DD}" srcId="{EC16B24D-42FF-496A-9BB8-D409A5637771}" destId="{FB46669F-A918-4EF9-BFD2-E48ED41128B6}" srcOrd="3" destOrd="0" parTransId="{B54E1695-24F0-4DB0-8929-D8E18C416501}" sibTransId="{701C33C9-AA08-4AA2-B261-9C63A0F7A2C3}"/>
    <dgm:cxn modelId="{6B710F98-3962-47C4-A1FF-F6FFDFD0CD41}" type="presOf" srcId="{F565AFF8-CF79-47FD-A6DF-3535847CF27D}" destId="{E7840305-2B6E-4B17-B362-CC6E7E55DF4B}" srcOrd="0" destOrd="0" presId="urn:microsoft.com/office/officeart/2005/8/layout/bProcess4"/>
    <dgm:cxn modelId="{E1DFCC9B-A0D9-4A59-BFAF-5382A7DA769F}" srcId="{EC16B24D-42FF-496A-9BB8-D409A5637771}" destId="{D749842F-5609-4F38-A810-79E5B7900C21}" srcOrd="9" destOrd="0" parTransId="{4FE103CD-7878-4D98-B87E-7B19A1E8D214}" sibTransId="{DE09047F-0F25-4E74-ABBD-6C77CAFE6D2A}"/>
    <dgm:cxn modelId="{C84AB0AA-D309-4197-98BC-59FA867CC5AE}" type="presOf" srcId="{7164A872-689D-484E-A25C-32AFED7FEF51}" destId="{ED154484-A11C-40F5-AD06-856456138A2B}" srcOrd="0" destOrd="0" presId="urn:microsoft.com/office/officeart/2005/8/layout/bProcess4"/>
    <dgm:cxn modelId="{451DBDAA-E59C-4B71-B9D0-98AA1831B847}" type="presOf" srcId="{8B35233D-F630-4A06-A347-AA60E2BA3129}" destId="{C475CF02-ACE5-4E50-B0D2-93E678C39F90}" srcOrd="0" destOrd="0" presId="urn:microsoft.com/office/officeart/2005/8/layout/bProcess4"/>
    <dgm:cxn modelId="{A6EFACC4-4F9D-4605-91C3-2595EC8AD7D9}" type="presOf" srcId="{EC16B24D-42FF-496A-9BB8-D409A5637771}" destId="{51A8A6A9-0CC1-4866-BC91-982964449625}" srcOrd="0" destOrd="0" presId="urn:microsoft.com/office/officeart/2005/8/layout/bProcess4"/>
    <dgm:cxn modelId="{E133F4C6-13D5-4472-970A-E5E5785BF7B6}" type="presOf" srcId="{D36A6755-41C9-4365-BB3C-6469E93F6BD3}" destId="{3CAABBAD-4F12-4A21-A4F2-E9600F93DEC8}" srcOrd="0" destOrd="0" presId="urn:microsoft.com/office/officeart/2005/8/layout/bProcess4"/>
    <dgm:cxn modelId="{6B8E73C7-2D1F-47A2-BDDF-4C754CF022EF}" type="presOf" srcId="{D749842F-5609-4F38-A810-79E5B7900C21}" destId="{8F3B32D2-3B77-4B30-9861-9F2A3571EDA3}" srcOrd="0" destOrd="0" presId="urn:microsoft.com/office/officeart/2005/8/layout/bProcess4"/>
    <dgm:cxn modelId="{A46597CE-E95D-4880-B0B3-87BC849BDA59}" type="presOf" srcId="{1027E5CE-16AD-48DF-818E-EEFAFA1CC12C}" destId="{43745B92-441E-4E94-9053-EF06046041FC}" srcOrd="0" destOrd="0" presId="urn:microsoft.com/office/officeart/2005/8/layout/bProcess4"/>
    <dgm:cxn modelId="{658030F1-75B5-48DB-B2E3-9F5D03620B84}" type="presOf" srcId="{7A4DFE29-1057-4A43-9C93-8E60C0491D8E}" destId="{2D3D029C-6D6F-425E-8B5B-456D9A9AA88F}" srcOrd="0" destOrd="0" presId="urn:microsoft.com/office/officeart/2005/8/layout/bProcess4"/>
    <dgm:cxn modelId="{2E6A96F1-6698-4E5C-BD44-799724C0FCE9}" type="presOf" srcId="{1981EAA6-26C6-40BC-91D5-B7D078944332}" destId="{4558DD25-2A60-40A2-9F29-69DFCEE29BEF}" srcOrd="0" destOrd="0" presId="urn:microsoft.com/office/officeart/2005/8/layout/bProcess4"/>
    <dgm:cxn modelId="{0DEFA6F2-315F-4401-B36A-3AA1E59B8A80}" srcId="{EC16B24D-42FF-496A-9BB8-D409A5637771}" destId="{1027E5CE-16AD-48DF-818E-EEFAFA1CC12C}" srcOrd="6" destOrd="0" parTransId="{F302388F-D74E-4ABE-8A05-0B8527F26A60}" sibTransId="{B4F294C0-5A0A-40E3-A827-17D657A0BEAE}"/>
    <dgm:cxn modelId="{983E93F8-83FD-4AF6-A60B-3DA0307F487F}" type="presOf" srcId="{7A85FF40-AA92-432A-B2B9-66C4CA8B46E4}" destId="{EA38B5E2-0F39-4C5C-AB59-7ABD2D8FC655}" srcOrd="0" destOrd="0" presId="urn:microsoft.com/office/officeart/2005/8/layout/bProcess4"/>
    <dgm:cxn modelId="{CEE11DFE-2EB3-4611-A11A-4020E2070A8E}" type="presOf" srcId="{51B9CFFF-911C-4245-AC09-033B74406C7C}" destId="{343CB9BB-F782-46AD-B389-CEF0B98EF3E4}" srcOrd="0" destOrd="0" presId="urn:microsoft.com/office/officeart/2005/8/layout/bProcess4"/>
    <dgm:cxn modelId="{6EC9267D-55E3-4BD5-9B39-39E976CB45F8}" type="presParOf" srcId="{51A8A6A9-0CC1-4866-BC91-982964449625}" destId="{EFEFCB32-5A58-41A1-88D3-4D65BD4E837E}" srcOrd="0" destOrd="0" presId="urn:microsoft.com/office/officeart/2005/8/layout/bProcess4"/>
    <dgm:cxn modelId="{7D4F8998-67CE-4974-9270-29B29941EC80}" type="presParOf" srcId="{EFEFCB32-5A58-41A1-88D3-4D65BD4E837E}" destId="{BF2510BF-C5CD-482A-B823-6D39865168A6}" srcOrd="0" destOrd="0" presId="urn:microsoft.com/office/officeart/2005/8/layout/bProcess4"/>
    <dgm:cxn modelId="{661B5A2E-4626-488F-A740-AE8A9FB993F6}" type="presParOf" srcId="{EFEFCB32-5A58-41A1-88D3-4D65BD4E837E}" destId="{C475CF02-ACE5-4E50-B0D2-93E678C39F90}" srcOrd="1" destOrd="0" presId="urn:microsoft.com/office/officeart/2005/8/layout/bProcess4"/>
    <dgm:cxn modelId="{2A9085B3-BDED-4198-BC23-F63CEC96CF8F}" type="presParOf" srcId="{51A8A6A9-0CC1-4866-BC91-982964449625}" destId="{8413A3E0-AB73-49CD-9D8A-181E81A262A4}" srcOrd="1" destOrd="0" presId="urn:microsoft.com/office/officeart/2005/8/layout/bProcess4"/>
    <dgm:cxn modelId="{681F2E1C-FF4C-49E8-999B-049D16F8B850}" type="presParOf" srcId="{51A8A6A9-0CC1-4866-BC91-982964449625}" destId="{5E9F0C5E-8FA3-4501-9566-8FA09D089BDE}" srcOrd="2" destOrd="0" presId="urn:microsoft.com/office/officeart/2005/8/layout/bProcess4"/>
    <dgm:cxn modelId="{7A014E34-C452-4CAE-9BE8-33F728B423DD}" type="presParOf" srcId="{5E9F0C5E-8FA3-4501-9566-8FA09D089BDE}" destId="{CB029A7D-EEB1-4149-8033-D3631C09F645}" srcOrd="0" destOrd="0" presId="urn:microsoft.com/office/officeart/2005/8/layout/bProcess4"/>
    <dgm:cxn modelId="{F2BB426E-0F24-4369-91A1-F96E22D0F4A7}" type="presParOf" srcId="{5E9F0C5E-8FA3-4501-9566-8FA09D089BDE}" destId="{A2770A91-F368-4F02-AECB-B301A88B7C3F}" srcOrd="1" destOrd="0" presId="urn:microsoft.com/office/officeart/2005/8/layout/bProcess4"/>
    <dgm:cxn modelId="{8F021A1B-F8B3-4B56-95B6-4BE247A367BD}" type="presParOf" srcId="{51A8A6A9-0CC1-4866-BC91-982964449625}" destId="{343CB9BB-F782-46AD-B389-CEF0B98EF3E4}" srcOrd="3" destOrd="0" presId="urn:microsoft.com/office/officeart/2005/8/layout/bProcess4"/>
    <dgm:cxn modelId="{6B45D61C-E703-43A2-B173-0D1D5816B1DF}" type="presParOf" srcId="{51A8A6A9-0CC1-4866-BC91-982964449625}" destId="{30EF343C-CD86-43B0-B6EC-D69F560D1113}" srcOrd="4" destOrd="0" presId="urn:microsoft.com/office/officeart/2005/8/layout/bProcess4"/>
    <dgm:cxn modelId="{C41A7D6F-B17A-47A1-B1E4-873DBD604A75}" type="presParOf" srcId="{30EF343C-CD86-43B0-B6EC-D69F560D1113}" destId="{CE286084-4E15-4B57-B99E-19B999EB3A5A}" srcOrd="0" destOrd="0" presId="urn:microsoft.com/office/officeart/2005/8/layout/bProcess4"/>
    <dgm:cxn modelId="{F791BFE5-8FEB-49E7-82AC-9E2CAB5ABD03}" type="presParOf" srcId="{30EF343C-CD86-43B0-B6EC-D69F560D1113}" destId="{53547D0E-4852-4BC3-8E7A-E9881D19CC98}" srcOrd="1" destOrd="0" presId="urn:microsoft.com/office/officeart/2005/8/layout/bProcess4"/>
    <dgm:cxn modelId="{FC4CCCCE-1F92-4D94-A53E-C2575DD4AB1D}" type="presParOf" srcId="{51A8A6A9-0CC1-4866-BC91-982964449625}" destId="{2D3D029C-6D6F-425E-8B5B-456D9A9AA88F}" srcOrd="5" destOrd="0" presId="urn:microsoft.com/office/officeart/2005/8/layout/bProcess4"/>
    <dgm:cxn modelId="{9FF5BE18-7080-4D27-967A-36CBEE89644A}" type="presParOf" srcId="{51A8A6A9-0CC1-4866-BC91-982964449625}" destId="{4B4DACC7-D712-42F7-ACAB-3C0CA49B54EE}" srcOrd="6" destOrd="0" presId="urn:microsoft.com/office/officeart/2005/8/layout/bProcess4"/>
    <dgm:cxn modelId="{98221DFF-1DF3-47FD-BF7C-6636883FB56F}" type="presParOf" srcId="{4B4DACC7-D712-42F7-ACAB-3C0CA49B54EE}" destId="{D5EC1F93-89C7-4233-834F-E648DAD2197E}" srcOrd="0" destOrd="0" presId="urn:microsoft.com/office/officeart/2005/8/layout/bProcess4"/>
    <dgm:cxn modelId="{73D59C8E-207C-4A7E-8248-38BA8B7F7136}" type="presParOf" srcId="{4B4DACC7-D712-42F7-ACAB-3C0CA49B54EE}" destId="{E83BDB62-334A-4A34-BEB9-AEF86F73846D}" srcOrd="1" destOrd="0" presId="urn:microsoft.com/office/officeart/2005/8/layout/bProcess4"/>
    <dgm:cxn modelId="{31203F08-F752-48D9-A2DB-104ADC784DCF}" type="presParOf" srcId="{51A8A6A9-0CC1-4866-BC91-982964449625}" destId="{FD813E9D-AB6A-4502-A6AB-AF70F151776C}" srcOrd="7" destOrd="0" presId="urn:microsoft.com/office/officeart/2005/8/layout/bProcess4"/>
    <dgm:cxn modelId="{75A22408-6EDA-4298-A8EF-1F95DD56F7FA}" type="presParOf" srcId="{51A8A6A9-0CC1-4866-BC91-982964449625}" destId="{7C0D8773-B06B-40BF-A751-A61B6F05A65D}" srcOrd="8" destOrd="0" presId="urn:microsoft.com/office/officeart/2005/8/layout/bProcess4"/>
    <dgm:cxn modelId="{10FD0D06-163D-4A66-B182-40681B11FD3B}" type="presParOf" srcId="{7C0D8773-B06B-40BF-A751-A61B6F05A65D}" destId="{F70D6CAD-2390-44B1-800A-2E31281261FF}" srcOrd="0" destOrd="0" presId="urn:microsoft.com/office/officeart/2005/8/layout/bProcess4"/>
    <dgm:cxn modelId="{14A3D4FA-8CCF-4FD5-B82C-CFA24C798A53}" type="presParOf" srcId="{7C0D8773-B06B-40BF-A751-A61B6F05A65D}" destId="{4558DD25-2A60-40A2-9F29-69DFCEE29BEF}" srcOrd="1" destOrd="0" presId="urn:microsoft.com/office/officeart/2005/8/layout/bProcess4"/>
    <dgm:cxn modelId="{FB5849C0-FCBD-4A20-B1BF-33562863E310}" type="presParOf" srcId="{51A8A6A9-0CC1-4866-BC91-982964449625}" destId="{EA38B5E2-0F39-4C5C-AB59-7ABD2D8FC655}" srcOrd="9" destOrd="0" presId="urn:microsoft.com/office/officeart/2005/8/layout/bProcess4"/>
    <dgm:cxn modelId="{21C16616-E866-4C88-B6BE-B9DAFDD59670}" type="presParOf" srcId="{51A8A6A9-0CC1-4866-BC91-982964449625}" destId="{8965B1E1-F19D-4380-BC4E-88E0AA7B6860}" srcOrd="10" destOrd="0" presId="urn:microsoft.com/office/officeart/2005/8/layout/bProcess4"/>
    <dgm:cxn modelId="{0438B490-8455-4EE8-A904-B2AB99112D6A}" type="presParOf" srcId="{8965B1E1-F19D-4380-BC4E-88E0AA7B6860}" destId="{E75B8B57-3764-4183-A945-092AA4EA7896}" srcOrd="0" destOrd="0" presId="urn:microsoft.com/office/officeart/2005/8/layout/bProcess4"/>
    <dgm:cxn modelId="{80A4D8C7-9C4D-433F-97DD-B9BD13CF77F6}" type="presParOf" srcId="{8965B1E1-F19D-4380-BC4E-88E0AA7B6860}" destId="{A2E8F6D2-5A78-4B8B-8C87-7C80A864666A}" srcOrd="1" destOrd="0" presId="urn:microsoft.com/office/officeart/2005/8/layout/bProcess4"/>
    <dgm:cxn modelId="{70C28824-80A9-43D9-A5E6-2543F804CC68}" type="presParOf" srcId="{51A8A6A9-0CC1-4866-BC91-982964449625}" destId="{F2803819-C6B5-4357-A1ED-776B4C3ACC9D}" srcOrd="11" destOrd="0" presId="urn:microsoft.com/office/officeart/2005/8/layout/bProcess4"/>
    <dgm:cxn modelId="{57A51C82-A88C-4099-8C11-2C3C9A81C03B}" type="presParOf" srcId="{51A8A6A9-0CC1-4866-BC91-982964449625}" destId="{4661714A-6AEC-4906-BAB6-B126335944A8}" srcOrd="12" destOrd="0" presId="urn:microsoft.com/office/officeart/2005/8/layout/bProcess4"/>
    <dgm:cxn modelId="{69DD6E87-95F7-4E37-BDDF-86E73E7E9319}" type="presParOf" srcId="{4661714A-6AEC-4906-BAB6-B126335944A8}" destId="{F9436148-47FE-48A2-8EAB-2D6A49249B0E}" srcOrd="0" destOrd="0" presId="urn:microsoft.com/office/officeart/2005/8/layout/bProcess4"/>
    <dgm:cxn modelId="{3152A480-4A52-48D7-84A2-25A1A60644B4}" type="presParOf" srcId="{4661714A-6AEC-4906-BAB6-B126335944A8}" destId="{43745B92-441E-4E94-9053-EF06046041FC}" srcOrd="1" destOrd="0" presId="urn:microsoft.com/office/officeart/2005/8/layout/bProcess4"/>
    <dgm:cxn modelId="{31A22B16-9F9D-45B7-96A7-CBB32CD3C955}" type="presParOf" srcId="{51A8A6A9-0CC1-4866-BC91-982964449625}" destId="{EC18530D-0F6A-4CD8-BDC5-216F9BD55821}" srcOrd="13" destOrd="0" presId="urn:microsoft.com/office/officeart/2005/8/layout/bProcess4"/>
    <dgm:cxn modelId="{F792062F-4B0A-46D2-9EDA-906E2B32CD42}" type="presParOf" srcId="{51A8A6A9-0CC1-4866-BC91-982964449625}" destId="{2F893436-4079-48A9-9B9A-EF8DDB693A2C}" srcOrd="14" destOrd="0" presId="urn:microsoft.com/office/officeart/2005/8/layout/bProcess4"/>
    <dgm:cxn modelId="{021A5AA1-6FE8-4EBC-A100-37BCA634079F}" type="presParOf" srcId="{2F893436-4079-48A9-9B9A-EF8DDB693A2C}" destId="{1AC1830A-9AE8-4868-86FF-EE2F6AE137E4}" srcOrd="0" destOrd="0" presId="urn:microsoft.com/office/officeart/2005/8/layout/bProcess4"/>
    <dgm:cxn modelId="{51DA1B0C-A467-4220-9B4E-D51A0A07EF94}" type="presParOf" srcId="{2F893436-4079-48A9-9B9A-EF8DDB693A2C}" destId="{ED154484-A11C-40F5-AD06-856456138A2B}" srcOrd="1" destOrd="0" presId="urn:microsoft.com/office/officeart/2005/8/layout/bProcess4"/>
    <dgm:cxn modelId="{5420137E-FB5E-408A-9C5F-71260B8F0ECB}" type="presParOf" srcId="{51A8A6A9-0CC1-4866-BC91-982964449625}" destId="{3CAABBAD-4F12-4A21-A4F2-E9600F93DEC8}" srcOrd="15" destOrd="0" presId="urn:microsoft.com/office/officeart/2005/8/layout/bProcess4"/>
    <dgm:cxn modelId="{EEE58E76-9BBC-43FF-9C51-421825943C03}" type="presParOf" srcId="{51A8A6A9-0CC1-4866-BC91-982964449625}" destId="{C4723206-928B-4090-8392-9C3D75260A5C}" srcOrd="16" destOrd="0" presId="urn:microsoft.com/office/officeart/2005/8/layout/bProcess4"/>
    <dgm:cxn modelId="{9109BBD0-466F-4C1F-9A69-ED88C96A53B8}" type="presParOf" srcId="{C4723206-928B-4090-8392-9C3D75260A5C}" destId="{BAA09CB3-842E-4B6B-9D4B-F9AFE8E96E3C}" srcOrd="0" destOrd="0" presId="urn:microsoft.com/office/officeart/2005/8/layout/bProcess4"/>
    <dgm:cxn modelId="{47633CE5-9971-4152-93A9-2DEB5068658F}" type="presParOf" srcId="{C4723206-928B-4090-8392-9C3D75260A5C}" destId="{E7840305-2B6E-4B17-B362-CC6E7E55DF4B}" srcOrd="1" destOrd="0" presId="urn:microsoft.com/office/officeart/2005/8/layout/bProcess4"/>
    <dgm:cxn modelId="{5D164270-2BDF-4505-9A87-A9FCBE80FA30}" type="presParOf" srcId="{51A8A6A9-0CC1-4866-BC91-982964449625}" destId="{3E8FD20F-C819-4F3D-877C-EE84C0F3FBBA}" srcOrd="17" destOrd="0" presId="urn:microsoft.com/office/officeart/2005/8/layout/bProcess4"/>
    <dgm:cxn modelId="{C8AD882F-0CEE-40AB-B3B0-CC453985103E}" type="presParOf" srcId="{51A8A6A9-0CC1-4866-BC91-982964449625}" destId="{9DA65366-10BA-4E39-8689-ED7501D11C33}" srcOrd="18" destOrd="0" presId="urn:microsoft.com/office/officeart/2005/8/layout/bProcess4"/>
    <dgm:cxn modelId="{11B0627E-DC6F-48B3-A59A-B3E409E8AA1F}" type="presParOf" srcId="{9DA65366-10BA-4E39-8689-ED7501D11C33}" destId="{E5A3385F-2357-4F93-8065-379535AB50EA}" srcOrd="0" destOrd="0" presId="urn:microsoft.com/office/officeart/2005/8/layout/bProcess4"/>
    <dgm:cxn modelId="{E375C659-F066-4793-B878-C775B22BE62B}" type="presParOf" srcId="{9DA65366-10BA-4E39-8689-ED7501D11C33}" destId="{8F3B32D2-3B77-4B30-9861-9F2A3571EDA3}" srcOrd="1" destOrd="0" presId="urn:microsoft.com/office/officeart/2005/8/layout/bProcess4"/>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AA19C-7FDF-4B05-92FF-BBA7A040F793}">
      <dsp:nvSpPr>
        <dsp:cNvPr id="0" name=""/>
        <dsp:cNvSpPr/>
      </dsp:nvSpPr>
      <dsp:spPr>
        <a:xfrm>
          <a:off x="230975" y="0"/>
          <a:ext cx="5875742" cy="1605638"/>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tr-TR" sz="1000" kern="1200" dirty="0" err="1"/>
            <a:t>Titreyengöl</a:t>
          </a:r>
          <a:r>
            <a:rPr lang="tr-TR" sz="1000" kern="1200" dirty="0"/>
            <a:t> / Side’de bulunan </a:t>
          </a:r>
          <a:r>
            <a:rPr lang="tr-TR" sz="1000" kern="1200" dirty="0" err="1"/>
            <a:t>Lago’da</a:t>
          </a:r>
          <a:r>
            <a:rPr lang="tr-TR" sz="1000" kern="1200" dirty="0"/>
            <a:t> doğal güzelliklerin tadını çıkaran konuklarımız otelimize girdiklerinde onları eşsiz kumsalımız karşılar. Bununla birlikte kapalı alanda 1 adet çocuk 1 adet büyükler için ısıtmalı havuzumuz bulunmaktadır. Eşsiz konumu sayesinde odalarımızın çoğu deniz, havuz bir kısmı da göl, nehir ve orman manzaralıdır. Oda tercihiniz ne olursa olsun tatiliniz süresince Lago olarak sizlere lüks, konfor ve eğlencenin bir arada olduğu unutulmaz bir imkânı sunuyoruz.</a:t>
          </a:r>
          <a:endParaRPr lang="en-US" sz="1000" kern="1200" dirty="0"/>
        </a:p>
      </dsp:txBody>
      <dsp:txXfrm>
        <a:off x="278003" y="47028"/>
        <a:ext cx="4143132" cy="1511582"/>
      </dsp:txXfrm>
    </dsp:sp>
    <dsp:sp modelId="{F05C2A3E-7D7D-475C-B96F-7E331B2FF309}">
      <dsp:nvSpPr>
        <dsp:cNvPr id="0" name=""/>
        <dsp:cNvSpPr/>
      </dsp:nvSpPr>
      <dsp:spPr>
        <a:xfrm>
          <a:off x="518447" y="1873244"/>
          <a:ext cx="5875742" cy="1605638"/>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tr-TR" sz="1000" kern="1200"/>
            <a:t>Ayrıca Otelimizde profesyonel şeflerimizin ellerinden çıkan lezzet dolu yemekler, her biri kendine özgü bir lezzete sahip olan barlarla birlikte Dünya mutfaklarını sizlerle buluşturan restoranlarımız sizler için hazırdır. Konuklarımız otelimizde; bülbül ve çeşitli kuş sesleriyle uyanıp, Havuz ve deniz kenarında pırıl pırıl havuzumuzda ve mavi bayraklı berrak denizimizde yüzebilirsiniz. Bunların yanında Lago, saunadan spa’ya, fitness merkezine, bay, bayan kuaför, butik, kuyumcu, fotoğrafçı, oyun salonu, AVM gibi çeşitli hizmetleriyle de rahatınızı sağlamaktadır. Aqua, amfi tiyatro gösterileri, gece kulübü, çocuk kulübü, gibi aktivitelerimizle de doyumsuz eğlence mümkün!</a:t>
          </a:r>
          <a:endParaRPr lang="en-US" sz="1000" kern="1200"/>
        </a:p>
      </dsp:txBody>
      <dsp:txXfrm>
        <a:off x="565475" y="1920272"/>
        <a:ext cx="4219573" cy="1511582"/>
      </dsp:txXfrm>
    </dsp:sp>
    <dsp:sp modelId="{CD9C41D1-45E0-4C57-8AFD-062337A1C6BD}">
      <dsp:nvSpPr>
        <dsp:cNvPr id="0" name=""/>
        <dsp:cNvSpPr/>
      </dsp:nvSpPr>
      <dsp:spPr>
        <a:xfrm>
          <a:off x="1036895" y="3746488"/>
          <a:ext cx="5875742" cy="1605638"/>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tr-TR" sz="1000" kern="1200"/>
            <a:t>Otelimiz, göle 50, nehire 300 metredir. Burada yürüyüş, koşu, bisiklete biner balık tutar, dünyanın her yerinden gelen kuşları izleme fırsatını bulup, doğayla iç içe yaşayabilirsiniz. Ayrıca diğer yerler: Manavgat 4 km. Manavgat şelalesine 6 km Side’ye: 9km olup Side de Side antik şehrini anfi tiyatrosunu müzesini, Apollon Tapınağını ve Dünyada ilk Güneş saatini görme şansına erişebilirsiniz.</a:t>
          </a:r>
          <a:endParaRPr lang="en-US" sz="1000" kern="1200"/>
        </a:p>
      </dsp:txBody>
      <dsp:txXfrm>
        <a:off x="1083923" y="3793516"/>
        <a:ext cx="4219573" cy="1511582"/>
      </dsp:txXfrm>
    </dsp:sp>
    <dsp:sp modelId="{A1D0CADB-D5F0-405D-8D7D-42136CAD65DC}">
      <dsp:nvSpPr>
        <dsp:cNvPr id="0" name=""/>
        <dsp:cNvSpPr/>
      </dsp:nvSpPr>
      <dsp:spPr>
        <a:xfrm>
          <a:off x="4832077" y="1217608"/>
          <a:ext cx="1043664" cy="1043664"/>
        </a:xfrm>
        <a:prstGeom prst="downArrow">
          <a:avLst>
            <a:gd name="adj1" fmla="val 55000"/>
            <a:gd name="adj2" fmla="val 45000"/>
          </a:avLst>
        </a:prstGeom>
        <a:solidFill>
          <a:schemeClr val="tx1">
            <a:lumMod val="65000"/>
            <a:lumOff val="35000"/>
            <a:alpha val="9000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066901" y="1217608"/>
        <a:ext cx="574016" cy="785357"/>
      </dsp:txXfrm>
    </dsp:sp>
    <dsp:sp modelId="{FD5A6051-214F-46FE-A3A9-ED6EEDAD86FE}">
      <dsp:nvSpPr>
        <dsp:cNvPr id="0" name=""/>
        <dsp:cNvSpPr/>
      </dsp:nvSpPr>
      <dsp:spPr>
        <a:xfrm>
          <a:off x="5350525" y="3080149"/>
          <a:ext cx="1043664" cy="1043664"/>
        </a:xfrm>
        <a:prstGeom prst="downArrow">
          <a:avLst>
            <a:gd name="adj1" fmla="val 55000"/>
            <a:gd name="adj2" fmla="val 45000"/>
          </a:avLst>
        </a:prstGeom>
        <a:solidFill>
          <a:schemeClr val="tx1">
            <a:lumMod val="65000"/>
            <a:lumOff val="35000"/>
            <a:alpha val="9000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585349" y="3080149"/>
        <a:ext cx="574016" cy="7853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13A3E0-AB73-49CD-9D8A-181E81A262A4}">
      <dsp:nvSpPr>
        <dsp:cNvPr id="0" name=""/>
        <dsp:cNvSpPr/>
      </dsp:nvSpPr>
      <dsp:spPr>
        <a:xfrm rot="5400000">
          <a:off x="1477449" y="844551"/>
          <a:ext cx="1320463" cy="159217"/>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sp>
    <dsp:sp modelId="{C475CF02-ACE5-4E50-B0D2-93E678C39F90}">
      <dsp:nvSpPr>
        <dsp:cNvPr id="0" name=""/>
        <dsp:cNvSpPr/>
      </dsp:nvSpPr>
      <dsp:spPr>
        <a:xfrm>
          <a:off x="1780692" y="1066"/>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dirty="0"/>
            <a:t>Doğal kaynakların etkili kullanımı ve daha az atık,</a:t>
          </a:r>
          <a:endParaRPr lang="en-US" sz="900" kern="1200" dirty="0"/>
        </a:p>
      </dsp:txBody>
      <dsp:txXfrm>
        <a:off x="1811781" y="32155"/>
        <a:ext cx="1706900" cy="999269"/>
      </dsp:txXfrm>
    </dsp:sp>
    <dsp:sp modelId="{343CB9BB-F782-46AD-B389-CEF0B98EF3E4}">
      <dsp:nvSpPr>
        <dsp:cNvPr id="0" name=""/>
        <dsp:cNvSpPr/>
      </dsp:nvSpPr>
      <dsp:spPr>
        <a:xfrm rot="5400000">
          <a:off x="1477449" y="2171360"/>
          <a:ext cx="1320463" cy="159217"/>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sp>
    <dsp:sp modelId="{A2770A91-F368-4F02-AECB-B301A88B7C3F}">
      <dsp:nvSpPr>
        <dsp:cNvPr id="0" name=""/>
        <dsp:cNvSpPr/>
      </dsp:nvSpPr>
      <dsp:spPr>
        <a:xfrm>
          <a:off x="1780692" y="1327875"/>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a:t>Su kullanımını azaltmak,</a:t>
          </a:r>
          <a:endParaRPr lang="en-US" sz="900" kern="1200"/>
        </a:p>
      </dsp:txBody>
      <dsp:txXfrm>
        <a:off x="1811781" y="1358964"/>
        <a:ext cx="1706900" cy="999269"/>
      </dsp:txXfrm>
    </dsp:sp>
    <dsp:sp modelId="{2D3D029C-6D6F-425E-8B5B-456D9A9AA88F}">
      <dsp:nvSpPr>
        <dsp:cNvPr id="0" name=""/>
        <dsp:cNvSpPr/>
      </dsp:nvSpPr>
      <dsp:spPr>
        <a:xfrm rot="5400000">
          <a:off x="1477449" y="3498169"/>
          <a:ext cx="1320463" cy="159217"/>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sp>
    <dsp:sp modelId="{53547D0E-4852-4BC3-8E7A-E9881D19CC98}">
      <dsp:nvSpPr>
        <dsp:cNvPr id="0" name=""/>
        <dsp:cNvSpPr/>
      </dsp:nvSpPr>
      <dsp:spPr>
        <a:xfrm>
          <a:off x="1780692" y="2654684"/>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dirty="0"/>
            <a:t>Atıkların kaynağında azaltımı ilkesine uygun çalışmalar yapmak,</a:t>
          </a:r>
          <a:endParaRPr lang="en-US" sz="900" kern="1200" dirty="0"/>
        </a:p>
      </dsp:txBody>
      <dsp:txXfrm>
        <a:off x="1811781" y="2685773"/>
        <a:ext cx="1706900" cy="999269"/>
      </dsp:txXfrm>
    </dsp:sp>
    <dsp:sp modelId="{FD813E9D-AB6A-4502-A6AB-AF70F151776C}">
      <dsp:nvSpPr>
        <dsp:cNvPr id="0" name=""/>
        <dsp:cNvSpPr/>
      </dsp:nvSpPr>
      <dsp:spPr>
        <a:xfrm>
          <a:off x="2140854" y="4161574"/>
          <a:ext cx="2346529" cy="159217"/>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sp>
    <dsp:sp modelId="{E83BDB62-334A-4A34-BEB9-AEF86F73846D}">
      <dsp:nvSpPr>
        <dsp:cNvPr id="0" name=""/>
        <dsp:cNvSpPr/>
      </dsp:nvSpPr>
      <dsp:spPr>
        <a:xfrm>
          <a:off x="1780692" y="3981493"/>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a:t>Faaliyetlerimizde temizlemek yerine kirletmemek ilkesi ile uyum içerisinde çalışmak,</a:t>
          </a:r>
          <a:endParaRPr lang="en-US" sz="900" kern="1200"/>
        </a:p>
      </dsp:txBody>
      <dsp:txXfrm>
        <a:off x="1811781" y="4012582"/>
        <a:ext cx="1706900" cy="999269"/>
      </dsp:txXfrm>
    </dsp:sp>
    <dsp:sp modelId="{EA38B5E2-0F39-4C5C-AB59-7ABD2D8FC655}">
      <dsp:nvSpPr>
        <dsp:cNvPr id="0" name=""/>
        <dsp:cNvSpPr/>
      </dsp:nvSpPr>
      <dsp:spPr>
        <a:xfrm rot="16200000">
          <a:off x="3830324" y="3498169"/>
          <a:ext cx="1320463" cy="159217"/>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sp>
    <dsp:sp modelId="{4558DD25-2A60-40A2-9F29-69DFCEE29BEF}">
      <dsp:nvSpPr>
        <dsp:cNvPr id="0" name=""/>
        <dsp:cNvSpPr/>
      </dsp:nvSpPr>
      <dsp:spPr>
        <a:xfrm>
          <a:off x="4133567" y="3981493"/>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a:t>Faaliyetlerimizden kaynaklanan, karbondioksit başta olmak üzere tüm sera gazlarının salınımı azaltmak,</a:t>
          </a:r>
          <a:endParaRPr lang="en-US" sz="900" kern="1200"/>
        </a:p>
      </dsp:txBody>
      <dsp:txXfrm>
        <a:off x="4164656" y="4012582"/>
        <a:ext cx="1706900" cy="999269"/>
      </dsp:txXfrm>
    </dsp:sp>
    <dsp:sp modelId="{F2803819-C6B5-4357-A1ED-776B4C3ACC9D}">
      <dsp:nvSpPr>
        <dsp:cNvPr id="0" name=""/>
        <dsp:cNvSpPr/>
      </dsp:nvSpPr>
      <dsp:spPr>
        <a:xfrm rot="16259433">
          <a:off x="3843254" y="2172947"/>
          <a:ext cx="1323834" cy="159217"/>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sp>
    <dsp:sp modelId="{A2E8F6D2-5A78-4B8B-8C87-7C80A864666A}">
      <dsp:nvSpPr>
        <dsp:cNvPr id="0" name=""/>
        <dsp:cNvSpPr/>
      </dsp:nvSpPr>
      <dsp:spPr>
        <a:xfrm>
          <a:off x="4133567" y="2654684"/>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a:t>Yenilenebilir ve verimli enerji kullanmak,</a:t>
          </a:r>
          <a:endParaRPr lang="en-US" sz="900" kern="1200"/>
        </a:p>
      </dsp:txBody>
      <dsp:txXfrm>
        <a:off x="4164656" y="2685773"/>
        <a:ext cx="1706900" cy="999269"/>
      </dsp:txXfrm>
    </dsp:sp>
    <dsp:sp modelId="{EC18530D-0F6A-4CD8-BDC5-216F9BD55821}">
      <dsp:nvSpPr>
        <dsp:cNvPr id="0" name=""/>
        <dsp:cNvSpPr/>
      </dsp:nvSpPr>
      <dsp:spPr>
        <a:xfrm rot="16132167">
          <a:off x="3843225" y="844551"/>
          <a:ext cx="1320720" cy="159217"/>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sp>
    <dsp:sp modelId="{43745B92-441E-4E94-9053-EF06046041FC}">
      <dsp:nvSpPr>
        <dsp:cNvPr id="0" name=""/>
        <dsp:cNvSpPr/>
      </dsp:nvSpPr>
      <dsp:spPr>
        <a:xfrm>
          <a:off x="4159626" y="1327875"/>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a:t>Su Güvenliği kriterlerine uygun hareket etmek, kişi başı su tüketimini azaltmak, tesislerimizde düzenli su analizlerini ve rutin kontrolleri yaparak çevremize zararsız halde Atık Su hattına gönderilmesini sağlamak,</a:t>
          </a:r>
          <a:endParaRPr lang="en-US" sz="900" kern="1200"/>
        </a:p>
      </dsp:txBody>
      <dsp:txXfrm>
        <a:off x="4190715" y="1358964"/>
        <a:ext cx="1706900" cy="999269"/>
      </dsp:txXfrm>
    </dsp:sp>
    <dsp:sp modelId="{3CAABBAD-4F12-4A21-A4F2-E9600F93DEC8}">
      <dsp:nvSpPr>
        <dsp:cNvPr id="0" name=""/>
        <dsp:cNvSpPr/>
      </dsp:nvSpPr>
      <dsp:spPr>
        <a:xfrm>
          <a:off x="4493729" y="181147"/>
          <a:ext cx="2346529" cy="159217"/>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sp>
    <dsp:sp modelId="{ED154484-A11C-40F5-AD06-856456138A2B}">
      <dsp:nvSpPr>
        <dsp:cNvPr id="0" name=""/>
        <dsp:cNvSpPr/>
      </dsp:nvSpPr>
      <dsp:spPr>
        <a:xfrm>
          <a:off x="4133567" y="1066"/>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dirty="0"/>
            <a:t>Tesislerimizin tüm faaliyetlerinde, Yöresel ve Yerli Ürünlere öncelik vermek, Ülkesel ve Global ekonominin sağlıklı büyümesine katkıda bulunmak,</a:t>
          </a:r>
          <a:endParaRPr lang="en-US" sz="900" kern="1200" dirty="0"/>
        </a:p>
      </dsp:txBody>
      <dsp:txXfrm>
        <a:off x="4164656" y="32155"/>
        <a:ext cx="1706900" cy="999269"/>
      </dsp:txXfrm>
    </dsp:sp>
    <dsp:sp modelId="{3E8FD20F-C819-4F3D-877C-EE84C0F3FBBA}">
      <dsp:nvSpPr>
        <dsp:cNvPr id="0" name=""/>
        <dsp:cNvSpPr/>
      </dsp:nvSpPr>
      <dsp:spPr>
        <a:xfrm rot="5400000">
          <a:off x="6183199" y="844551"/>
          <a:ext cx="1320463" cy="159217"/>
        </a:xfrm>
        <a:prstGeom prst="rect">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sp>
    <dsp:sp modelId="{E7840305-2B6E-4B17-B362-CC6E7E55DF4B}">
      <dsp:nvSpPr>
        <dsp:cNvPr id="0" name=""/>
        <dsp:cNvSpPr/>
      </dsp:nvSpPr>
      <dsp:spPr>
        <a:xfrm>
          <a:off x="6486442" y="1066"/>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a:t>Tüm misafirlerimize yörenin Doğal ve Kültürel Miraslarını ve Eserlerini tanıtmak,</a:t>
          </a:r>
          <a:endParaRPr lang="en-US" sz="900" kern="1200"/>
        </a:p>
      </dsp:txBody>
      <dsp:txXfrm>
        <a:off x="6517531" y="32155"/>
        <a:ext cx="1706900" cy="999269"/>
      </dsp:txXfrm>
    </dsp:sp>
    <dsp:sp modelId="{8F3B32D2-3B77-4B30-9861-9F2A3571EDA3}">
      <dsp:nvSpPr>
        <dsp:cNvPr id="0" name=""/>
        <dsp:cNvSpPr/>
      </dsp:nvSpPr>
      <dsp:spPr>
        <a:xfrm>
          <a:off x="6486442" y="1327875"/>
          <a:ext cx="1769078" cy="1061447"/>
        </a:xfrm>
        <a:prstGeom prst="roundRect">
          <a:avLst>
            <a:gd name="adj" fmla="val 10000"/>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tr-TR" sz="900" kern="1200"/>
            <a:t>Yöre Halkının yaşam kalitesine pozitif etki edecek çalışmalar yapmak ve yöresel dokuyu korumak,</a:t>
          </a:r>
          <a:endParaRPr lang="en-US" sz="900" kern="1200"/>
        </a:p>
      </dsp:txBody>
      <dsp:txXfrm>
        <a:off x="6517531" y="1358964"/>
        <a:ext cx="1706900" cy="99926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p:cNvSpPr>
            <a:spLocks noGrp="1"/>
          </p:cNvSpPr>
          <p:nvPr>
            <p:ph type="dt" sz="half" idx="10"/>
          </p:nvPr>
        </p:nvSpPr>
        <p:spPr/>
        <p:txBody>
          <a:bodyPr/>
          <a:lstStyle/>
          <a:p>
            <a:fld id="{76ED4DCD-A8A4-4A64-95A5-274728C063A8}" type="datetimeFigureOut">
              <a:rPr lang="tr-TR" smtClean="0"/>
              <a:t>2.02.2026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3419450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76ED4DCD-A8A4-4A64-95A5-274728C063A8}" type="datetimeFigureOut">
              <a:rPr lang="tr-TR" smtClean="0"/>
              <a:t>2.02.2026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1433445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Veri Yer Tutucusu 3"/>
          <p:cNvSpPr>
            <a:spLocks noGrp="1"/>
          </p:cNvSpPr>
          <p:nvPr>
            <p:ph type="dt" sz="half" idx="10"/>
          </p:nvPr>
        </p:nvSpPr>
        <p:spPr/>
        <p:txBody>
          <a:bodyPr/>
          <a:lstStyle/>
          <a:p>
            <a:fld id="{76ED4DCD-A8A4-4A64-95A5-274728C063A8}" type="datetimeFigureOut">
              <a:rPr lang="tr-TR" smtClean="0"/>
              <a:t>2.02.2026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2722048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76ED4DCD-A8A4-4A64-95A5-274728C063A8}" type="datetimeFigureOut">
              <a:rPr lang="tr-TR" smtClean="0"/>
              <a:t>2.02.2026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2798020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76ED4DCD-A8A4-4A64-95A5-274728C063A8}" type="datetimeFigureOut">
              <a:rPr lang="tr-TR" smtClean="0"/>
              <a:t>2.02.2026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3154811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76ED4DCD-A8A4-4A64-95A5-274728C063A8}" type="datetimeFigureOut">
              <a:rPr lang="tr-TR" smtClean="0"/>
              <a:t>2.02.2026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1106591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6ED4DCD-A8A4-4A64-95A5-274728C063A8}" type="datetimeFigureOut">
              <a:rPr lang="tr-TR" smtClean="0"/>
              <a:t>2.02.2026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1092134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76ED4DCD-A8A4-4A64-95A5-274728C063A8}" type="datetimeFigureOut">
              <a:rPr lang="tr-TR" smtClean="0"/>
              <a:t>2.02.2026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3443001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Veri Yer Tutucusu 4"/>
          <p:cNvSpPr>
            <a:spLocks noGrp="1"/>
          </p:cNvSpPr>
          <p:nvPr>
            <p:ph type="dt" sz="half" idx="10"/>
          </p:nvPr>
        </p:nvSpPr>
        <p:spPr/>
        <p:txBody>
          <a:bodyPr/>
          <a:lstStyle/>
          <a:p>
            <a:fld id="{76ED4DCD-A8A4-4A64-95A5-274728C063A8}" type="datetimeFigureOut">
              <a:rPr lang="tr-TR" smtClean="0"/>
              <a:t>2.02.2026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1264823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76ED4DCD-A8A4-4A64-95A5-274728C063A8}" type="datetimeFigureOut">
              <a:rPr lang="tr-TR" smtClean="0"/>
              <a:t>2.02.2026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1240700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76ED4DCD-A8A4-4A64-95A5-274728C063A8}" type="datetimeFigureOut">
              <a:rPr lang="tr-TR" smtClean="0"/>
              <a:t>2.02.2026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A3BF9689-E67D-4B69-BA38-2AC5CC59E580}" type="slidenum">
              <a:rPr lang="tr-TR" smtClean="0"/>
              <a:t>‹#›</a:t>
            </a:fld>
            <a:endParaRPr lang="tr-TR"/>
          </a:p>
        </p:txBody>
      </p:sp>
    </p:spTree>
    <p:extLst>
      <p:ext uri="{BB962C8B-B14F-4D97-AF65-F5344CB8AC3E}">
        <p14:creationId xmlns:p14="http://schemas.microsoft.com/office/powerpoint/2010/main" val="3613186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ED4DCD-A8A4-4A64-95A5-274728C063A8}" type="datetimeFigureOut">
              <a:rPr lang="tr-TR" smtClean="0"/>
              <a:t>2.02.2026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BF9689-E67D-4B69-BA38-2AC5CC59E580}" type="slidenum">
              <a:rPr lang="tr-TR" smtClean="0"/>
              <a:t>‹#›</a:t>
            </a:fld>
            <a:endParaRPr lang="tr-TR"/>
          </a:p>
        </p:txBody>
      </p:sp>
    </p:spTree>
    <p:extLst>
      <p:ext uri="{BB962C8B-B14F-4D97-AF65-F5344CB8AC3E}">
        <p14:creationId xmlns:p14="http://schemas.microsoft.com/office/powerpoint/2010/main" val="19414222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8.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9.xml"/></Relationships>
</file>

<file path=ppt/slides/_rels/slide1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png"/><Relationship Id="rId7" Type="http://schemas.openxmlformats.org/officeDocument/2006/relationships/diagramColors" Target="../diagrams/colors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6.jp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BACBC-BD3D-73B2-DBF5-EA9B121CF345}"/>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8908F61D-0633-EFBE-C0DB-B51CE0358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4" y="0"/>
            <a:ext cx="2246335" cy="6867036"/>
          </a:xfrm>
          <a:prstGeom prst="rect">
            <a:avLst/>
          </a:prstGeom>
        </p:spPr>
      </p:pic>
      <p:sp>
        <p:nvSpPr>
          <p:cNvPr id="2" name="Dikdörtgen 1">
            <a:extLst>
              <a:ext uri="{FF2B5EF4-FFF2-40B4-BE49-F238E27FC236}">
                <a16:creationId xmlns:a16="http://schemas.microsoft.com/office/drawing/2014/main" id="{10FFED1E-A97E-7F35-A5DE-531C0D7C003B}"/>
              </a:ext>
            </a:extLst>
          </p:cNvPr>
          <p:cNvSpPr/>
          <p:nvPr/>
        </p:nvSpPr>
        <p:spPr>
          <a:xfrm>
            <a:off x="-5" y="0"/>
            <a:ext cx="12192000" cy="6858000"/>
          </a:xfrm>
          <a:prstGeom prst="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bg1"/>
              </a:solidFill>
              <a:latin typeface="Arial Black" panose="020B0A04020102020204" pitchFamily="34" charset="0"/>
            </a:endParaRPr>
          </a:p>
          <a:p>
            <a:pPr algn="ctr"/>
            <a:endParaRPr lang="tr-TR" b="0" i="0" dirty="0">
              <a:solidFill>
                <a:schemeClr val="bg1"/>
              </a:solidFill>
              <a:effectLst/>
              <a:latin typeface="Arial Black" panose="020B0A04020102020204" pitchFamily="34" charset="0"/>
            </a:endParaRPr>
          </a:p>
          <a:p>
            <a:pPr algn="ctr"/>
            <a:endParaRPr lang="tr-TR" dirty="0">
              <a:solidFill>
                <a:schemeClr val="bg1"/>
              </a:solidFill>
              <a:latin typeface="Arial Black" panose="020B0A04020102020204" pitchFamily="34" charset="0"/>
            </a:endParaRPr>
          </a:p>
          <a:p>
            <a:pPr algn="ctr"/>
            <a:endParaRPr lang="tr-TR" b="0" i="0" dirty="0">
              <a:solidFill>
                <a:schemeClr val="bg1"/>
              </a:solidFill>
              <a:effectLst/>
              <a:latin typeface="Arial Black" panose="020B0A04020102020204" pitchFamily="34" charset="0"/>
            </a:endParaRPr>
          </a:p>
          <a:p>
            <a:pPr algn="ctr"/>
            <a:endParaRPr lang="tr-TR" dirty="0">
              <a:solidFill>
                <a:schemeClr val="bg1"/>
              </a:solidFill>
              <a:latin typeface="Arial Black" panose="020B0A04020102020204" pitchFamily="34" charset="0"/>
            </a:endParaRPr>
          </a:p>
        </p:txBody>
      </p:sp>
      <p:pic>
        <p:nvPicPr>
          <p:cNvPr id="4" name="Resim 3">
            <a:extLst>
              <a:ext uri="{FF2B5EF4-FFF2-40B4-BE49-F238E27FC236}">
                <a16:creationId xmlns:a16="http://schemas.microsoft.com/office/drawing/2014/main" id="{C95F9EA6-C94D-BA98-182D-F69622C985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05278" y="199913"/>
            <a:ext cx="1686192" cy="825835"/>
          </a:xfrm>
          <a:prstGeom prst="rect">
            <a:avLst/>
          </a:prstGeom>
        </p:spPr>
      </p:pic>
      <p:sp>
        <p:nvSpPr>
          <p:cNvPr id="5" name="Başlık 4">
            <a:extLst>
              <a:ext uri="{FF2B5EF4-FFF2-40B4-BE49-F238E27FC236}">
                <a16:creationId xmlns:a16="http://schemas.microsoft.com/office/drawing/2014/main" id="{A2C13FDA-FAE7-61D8-D8CE-C25419FDBE15}"/>
              </a:ext>
            </a:extLst>
          </p:cNvPr>
          <p:cNvSpPr>
            <a:spLocks noGrp="1"/>
          </p:cNvSpPr>
          <p:nvPr>
            <p:ph type="ctrTitle"/>
          </p:nvPr>
        </p:nvSpPr>
        <p:spPr>
          <a:xfrm>
            <a:off x="2134842" y="5769688"/>
            <a:ext cx="7922307" cy="1967080"/>
          </a:xfrm>
        </p:spPr>
        <p:txBody>
          <a:bodyPr>
            <a:normAutofit fontScale="90000"/>
          </a:bodyPr>
          <a:lstStyle/>
          <a:p>
            <a:pPr>
              <a:lnSpc>
                <a:spcPct val="107000"/>
              </a:lnSpc>
              <a:spcAft>
                <a:spcPts val="0"/>
              </a:spcAft>
            </a:pPr>
            <a:r>
              <a:rPr lang="tr-TR" sz="3600" b="1" dirty="0">
                <a:solidFill>
                  <a:schemeClr val="bg1"/>
                </a:solidFill>
                <a:latin typeface="Calibri" panose="020F0502020204030204" pitchFamily="34" charset="0"/>
                <a:ea typeface="Times New Roman" panose="02020603050405020304" pitchFamily="18" charset="0"/>
                <a:cs typeface="Calibri" panose="020F0502020204030204" pitchFamily="34" charset="0"/>
              </a:rPr>
              <a:t>SÜRDÜRÜLEBİLİRLİK</a:t>
            </a:r>
            <a:r>
              <a:rPr lang="tr-TR" sz="3600" b="1" dirty="0">
                <a:solidFill>
                  <a:srgbClr val="000000"/>
                </a:solidFill>
                <a:latin typeface="Calibri" panose="020F0502020204030204" pitchFamily="34" charset="0"/>
                <a:ea typeface="Times New Roman" panose="02020603050405020304" pitchFamily="18" charset="0"/>
                <a:cs typeface="Calibri" panose="020F0502020204030204" pitchFamily="34" charset="0"/>
              </a:rPr>
              <a:t> </a:t>
            </a:r>
            <a:r>
              <a:rPr lang="tr-TR" sz="3600" b="1" dirty="0">
                <a:solidFill>
                  <a:schemeClr val="bg1"/>
                </a:solidFill>
                <a:latin typeface="Calibri" panose="020F0502020204030204" pitchFamily="34" charset="0"/>
                <a:ea typeface="Times New Roman" panose="02020603050405020304" pitchFamily="18" charset="0"/>
                <a:cs typeface="Calibri" panose="020F0502020204030204" pitchFamily="34" charset="0"/>
              </a:rPr>
              <a:t>RAPORU</a:t>
            </a:r>
            <a:br>
              <a:rPr lang="tr-TR" sz="3600" b="1" dirty="0">
                <a:solidFill>
                  <a:schemeClr val="bg1"/>
                </a:solidFill>
                <a:latin typeface="Calibri" panose="020F0502020204030204" pitchFamily="34" charset="0"/>
                <a:ea typeface="Times New Roman" panose="02020603050405020304" pitchFamily="18" charset="0"/>
                <a:cs typeface="Calibri" panose="020F0502020204030204" pitchFamily="34" charset="0"/>
              </a:rPr>
            </a:br>
            <a:br>
              <a:rPr lang="tr-TR" sz="6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tr-TR" dirty="0">
              <a:solidFill>
                <a:schemeClr val="bg1"/>
              </a:solidFill>
            </a:endParaRPr>
          </a:p>
        </p:txBody>
      </p:sp>
      <p:pic>
        <p:nvPicPr>
          <p:cNvPr id="12" name="Resim 11" descr="dış mekan, Hava fotoğrafçılığı, havadan, anten, kuş bakışı görünüm içeren bir resim&#10;&#10;Açıklama otomatik olarak oluşturuldu">
            <a:extLst>
              <a:ext uri="{FF2B5EF4-FFF2-40B4-BE49-F238E27FC236}">
                <a16:creationId xmlns:a16="http://schemas.microsoft.com/office/drawing/2014/main" id="{5DD713A7-E8E0-91A0-152E-4AA49311AE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2902" y="1165413"/>
            <a:ext cx="8731623" cy="4335334"/>
          </a:xfrm>
          <a:prstGeom prst="rect">
            <a:avLst/>
          </a:prstGeom>
          <a:ln>
            <a:noFill/>
          </a:ln>
          <a:effectLst>
            <a:softEdge rad="112500"/>
          </a:effectLst>
        </p:spPr>
      </p:pic>
    </p:spTree>
    <p:extLst>
      <p:ext uri="{BB962C8B-B14F-4D97-AF65-F5344CB8AC3E}">
        <p14:creationId xmlns:p14="http://schemas.microsoft.com/office/powerpoint/2010/main" val="3376849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605C7-C7AA-FB4E-4856-A3383E3F02C7}"/>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EA468A79-6D4E-B4FE-1262-D3EBA292B0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05873"/>
            <a:ext cx="1750780" cy="5352127"/>
          </a:xfrm>
          <a:prstGeom prst="rect">
            <a:avLst/>
          </a:prstGeom>
        </p:spPr>
      </p:pic>
      <p:pic>
        <p:nvPicPr>
          <p:cNvPr id="7" name="Resim 6">
            <a:extLst>
              <a:ext uri="{FF2B5EF4-FFF2-40B4-BE49-F238E27FC236}">
                <a16:creationId xmlns:a16="http://schemas.microsoft.com/office/drawing/2014/main" id="{3A117FFA-EDFA-2911-FC53-66EACC0311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995" y="180954"/>
            <a:ext cx="587668" cy="438261"/>
          </a:xfrm>
          <a:prstGeom prst="rect">
            <a:avLst/>
          </a:prstGeom>
        </p:spPr>
      </p:pic>
      <p:graphicFrame>
        <p:nvGraphicFramePr>
          <p:cNvPr id="8" name="İçerik Yer Tutucusu 2">
            <a:extLst>
              <a:ext uri="{FF2B5EF4-FFF2-40B4-BE49-F238E27FC236}">
                <a16:creationId xmlns:a16="http://schemas.microsoft.com/office/drawing/2014/main" id="{2229E791-BF5A-BECC-C829-2867AC947F72}"/>
              </a:ext>
            </a:extLst>
          </p:cNvPr>
          <p:cNvGraphicFramePr/>
          <p:nvPr>
            <p:extLst>
              <p:ext uri="{D42A27DB-BD31-4B8C-83A1-F6EECF244321}">
                <p14:modId xmlns:p14="http://schemas.microsoft.com/office/powerpoint/2010/main" val="3733732811"/>
              </p:ext>
            </p:extLst>
          </p:nvPr>
        </p:nvGraphicFramePr>
        <p:xfrm>
          <a:off x="169297" y="886658"/>
          <a:ext cx="6912638" cy="53521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Resim 8">
            <a:extLst>
              <a:ext uri="{FF2B5EF4-FFF2-40B4-BE49-F238E27FC236}">
                <a16:creationId xmlns:a16="http://schemas.microsoft.com/office/drawing/2014/main" id="{6E199C26-791F-7DDE-D4CC-731582148E1A}"/>
              </a:ext>
            </a:extLst>
          </p:cNvPr>
          <p:cNvPicPr>
            <a:picLocks noChangeAspect="1"/>
          </p:cNvPicPr>
          <p:nvPr/>
        </p:nvPicPr>
        <p:blipFill>
          <a:blip r:embed="rId9"/>
          <a:stretch>
            <a:fillRect/>
          </a:stretch>
        </p:blipFill>
        <p:spPr>
          <a:xfrm>
            <a:off x="7061079" y="400084"/>
            <a:ext cx="4823926" cy="5492335"/>
          </a:xfrm>
          <a:prstGeom prst="rect">
            <a:avLst/>
          </a:prstGeom>
          <a:ln>
            <a:noFill/>
          </a:ln>
          <a:effectLst>
            <a:softEdge rad="112500"/>
          </a:effectLst>
        </p:spPr>
      </p:pic>
    </p:spTree>
    <p:extLst>
      <p:ext uri="{BB962C8B-B14F-4D97-AF65-F5344CB8AC3E}">
        <p14:creationId xmlns:p14="http://schemas.microsoft.com/office/powerpoint/2010/main" val="4124897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descr="siyah, karanlık içeren bir resim&#10;&#10;Yapay zeka tarafından oluşturulmuş içerik yanlış olabilir.">
            <a:extLst>
              <a:ext uri="{FF2B5EF4-FFF2-40B4-BE49-F238E27FC236}">
                <a16:creationId xmlns:a16="http://schemas.microsoft.com/office/drawing/2014/main" id="{F8C3F92A-AF96-55B7-9DA0-A7C91546DE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4171" y="1365668"/>
            <a:ext cx="1677276" cy="5121457"/>
          </a:xfrm>
          <a:prstGeom prst="rect">
            <a:avLst/>
          </a:prstGeom>
        </p:spPr>
      </p:pic>
      <p:sp>
        <p:nvSpPr>
          <p:cNvPr id="6" name="Metin kutusu 5">
            <a:extLst>
              <a:ext uri="{FF2B5EF4-FFF2-40B4-BE49-F238E27FC236}">
                <a16:creationId xmlns:a16="http://schemas.microsoft.com/office/drawing/2014/main" id="{24F6C1C9-C01C-50FD-80E8-EC62D6ED258C}"/>
              </a:ext>
            </a:extLst>
          </p:cNvPr>
          <p:cNvSpPr txBox="1"/>
          <p:nvPr/>
        </p:nvSpPr>
        <p:spPr>
          <a:xfrm>
            <a:off x="354562" y="1650708"/>
            <a:ext cx="11290042" cy="2431435"/>
          </a:xfrm>
          <a:prstGeom prst="rect">
            <a:avLst/>
          </a:prstGeom>
          <a:noFill/>
        </p:spPr>
        <p:txBody>
          <a:bodyPr wrap="square">
            <a:spAutoFit/>
          </a:bodyPr>
          <a:lstStyle/>
          <a:p>
            <a:pPr algn="l">
              <a:spcBef>
                <a:spcPts val="1200"/>
              </a:spcBef>
              <a:spcAft>
                <a:spcPts val="1200"/>
              </a:spcAft>
              <a:buNone/>
            </a:pPr>
            <a:r>
              <a:rPr lang="tr-TR" sz="1600" b="0" i="0" dirty="0">
                <a:solidFill>
                  <a:srgbClr val="0F1115"/>
                </a:solidFill>
                <a:effectLst/>
                <a:latin typeface="+mj-lt"/>
              </a:rPr>
              <a:t>5 yıldızlı otelimiz, göz kamaştırıcı ve çağdaş mimarisiyle size ilk andan itibaren zarafet ve lüksün mükemmel uyumunu hissettiriyor. Modern tasarımın rahatlıkla buluştuğu geniş ve şık odalarımızda, her detay kişisel konforunuz için özenle düşünüldü.</a:t>
            </a:r>
          </a:p>
          <a:p>
            <a:pPr algn="l">
              <a:spcBef>
                <a:spcPts val="1200"/>
              </a:spcBef>
              <a:spcAft>
                <a:spcPts val="1200"/>
              </a:spcAft>
              <a:buNone/>
            </a:pPr>
            <a:r>
              <a:rPr lang="tr-TR" sz="1600" b="0" i="0" dirty="0">
                <a:solidFill>
                  <a:srgbClr val="0F1115"/>
                </a:solidFill>
                <a:effectLst/>
                <a:latin typeface="+mj-lt"/>
              </a:rPr>
              <a:t>Damak zevkinize hitap eden birinci sınıf restoranlarımızda, taze deniz ürünleri ve Akdeniz'in en seçkin lezzetleri, usta şeflerimizin yaratıcı dokunuşlarıyla bir şölene dönüşüyor.</a:t>
            </a:r>
          </a:p>
          <a:p>
            <a:pPr algn="l">
              <a:spcBef>
                <a:spcPts val="1200"/>
              </a:spcBef>
              <a:buNone/>
            </a:pPr>
            <a:r>
              <a:rPr lang="tr-TR" sz="1600" b="0" i="0" dirty="0">
                <a:solidFill>
                  <a:srgbClr val="0F1115"/>
                </a:solidFill>
                <a:effectLst/>
                <a:latin typeface="+mj-lt"/>
              </a:rPr>
              <a:t>Konumumuzun en büyük avantajı ise, uçsuz bucaksız masmavi manzaraların tam kalbinde olmamız. Tertemiz deniz havasını içinize çekebileceğiniz, özel plajımızdan denize doğrudan ulaşabileceğiniz ve gün batımının büyüleyici renklerini doyasıya izleyebileceğiniz eşsiz bir huzur vadediyoruz. Burası, lüksün rahatlıkla, muhteşem manzaraların ise unutulmaz anılarla iç içe geçtiği bir kaçış noktası.</a:t>
            </a:r>
          </a:p>
        </p:txBody>
      </p:sp>
    </p:spTree>
    <p:extLst>
      <p:ext uri="{BB962C8B-B14F-4D97-AF65-F5344CB8AC3E}">
        <p14:creationId xmlns:p14="http://schemas.microsoft.com/office/powerpoint/2010/main" val="914595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CC18A-97F6-19D4-1B00-F875E25E187C}"/>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F8380F16-727E-017D-AE72-144066BEB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9955" y="1505873"/>
            <a:ext cx="1750780" cy="5352127"/>
          </a:xfrm>
          <a:prstGeom prst="rect">
            <a:avLst/>
          </a:prstGeom>
        </p:spPr>
      </p:pic>
      <p:pic>
        <p:nvPicPr>
          <p:cNvPr id="7" name="Resim 6">
            <a:extLst>
              <a:ext uri="{FF2B5EF4-FFF2-40B4-BE49-F238E27FC236}">
                <a16:creationId xmlns:a16="http://schemas.microsoft.com/office/drawing/2014/main" id="{0B482F27-97DF-7002-7F65-0C1C9EB6A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sp>
        <p:nvSpPr>
          <p:cNvPr id="5" name="Metin kutusu 4">
            <a:extLst>
              <a:ext uri="{FF2B5EF4-FFF2-40B4-BE49-F238E27FC236}">
                <a16:creationId xmlns:a16="http://schemas.microsoft.com/office/drawing/2014/main" id="{DD8CAFD6-12F8-6A0B-8E4C-76FC91486E19}"/>
              </a:ext>
            </a:extLst>
          </p:cNvPr>
          <p:cNvSpPr txBox="1"/>
          <p:nvPr/>
        </p:nvSpPr>
        <p:spPr>
          <a:xfrm>
            <a:off x="1165250" y="1042615"/>
            <a:ext cx="10180773" cy="3600986"/>
          </a:xfrm>
          <a:prstGeom prst="rect">
            <a:avLst/>
          </a:prstGeom>
          <a:noFill/>
        </p:spPr>
        <p:txBody>
          <a:bodyPr wrap="square">
            <a:spAutoFit/>
          </a:bodyPr>
          <a:lstStyle/>
          <a:p>
            <a:pPr algn="l">
              <a:spcAft>
                <a:spcPts val="1200"/>
              </a:spcAft>
              <a:buNone/>
            </a:pPr>
            <a:r>
              <a:rPr lang="tr-TR" sz="2400" b="1" i="0" dirty="0">
                <a:solidFill>
                  <a:srgbClr val="0F1115"/>
                </a:solidFill>
                <a:effectLst/>
                <a:latin typeface="quote-cjk-patch"/>
              </a:rPr>
              <a:t>LAGO HOTEL Sürdürülebilirlik ve İnsan Odaklı Yönetim Politikası ;</a:t>
            </a:r>
            <a:endParaRPr lang="tr-TR" sz="2400" b="0" i="0" dirty="0">
              <a:solidFill>
                <a:srgbClr val="0F1115"/>
              </a:solidFill>
              <a:effectLst/>
              <a:latin typeface="quote-cjk-patch"/>
            </a:endParaRPr>
          </a:p>
          <a:p>
            <a:pPr algn="l">
              <a:spcBef>
                <a:spcPts val="1200"/>
              </a:spcBef>
              <a:spcAft>
                <a:spcPts val="1200"/>
              </a:spcAft>
              <a:buNone/>
            </a:pPr>
            <a:r>
              <a:rPr lang="tr-TR" sz="1600" b="0" i="0" dirty="0">
                <a:solidFill>
                  <a:srgbClr val="0F1115"/>
                </a:solidFill>
                <a:effectLst/>
                <a:latin typeface="+mj-lt"/>
              </a:rPr>
              <a:t>Biz LAGO OTEL olarak, sürdürülebilirliği yalnızca çevreye saygı ile değil, insana değer vermekle başlayan bir yolculuk olarak görüyoruz. Otelimizde her misafirimiz, çalışanımız ve iş ortağımız; kimliği, geçmişi veya tercihleri ne olursa olsun eşit derecede önemli ve değerlidir. Ayrım gözetmeksizin, herkesin temel haklarına, sağlığına ve güvenliğine saygı duyar, koruyucu bir ortam sunmak için gereken her türlü önlemi alırız.</a:t>
            </a:r>
          </a:p>
          <a:p>
            <a:pPr algn="l">
              <a:spcBef>
                <a:spcPts val="1200"/>
              </a:spcBef>
              <a:spcAft>
                <a:spcPts val="1200"/>
              </a:spcAft>
              <a:buNone/>
            </a:pPr>
            <a:r>
              <a:rPr lang="tr-TR" sz="1600" b="0" i="0" dirty="0">
                <a:solidFill>
                  <a:srgbClr val="0F1115"/>
                </a:solidFill>
                <a:effectLst/>
                <a:latin typeface="+mj-lt"/>
              </a:rPr>
              <a:t>Doğaya ve çevreye karşı da aynı duyarlılıkla yaklaşıyor, tüm faaliyetlerimizde sürdürülebilir kaynak kullanımını, atık yönetimini ve ekolojik dengeyi gözetiyoruz. Çevreye duyarlı bir işletme olma sorumluluğumuzu, kalite ve verimlilik ile birleştirerek hem gezegenimize hem de otelimizin geleceğine yatırım yapıyoruz.</a:t>
            </a:r>
          </a:p>
          <a:p>
            <a:pPr algn="l">
              <a:spcBef>
                <a:spcPts val="1200"/>
              </a:spcBef>
              <a:buNone/>
            </a:pPr>
            <a:r>
              <a:rPr lang="tr-TR" sz="1600" b="0" i="0" dirty="0">
                <a:solidFill>
                  <a:srgbClr val="0F1115"/>
                </a:solidFill>
                <a:effectLst/>
                <a:latin typeface="+mj-lt"/>
              </a:rPr>
              <a:t>Amacımız; sadece konaklama sunmak değil, insanı ve doğayı merkeze alan, sürdürülebilir, adil ve kaliteli bir yaşam alanı yaratmaktır. Bu taahhüdümüz, LAGO </a:t>
            </a:r>
            <a:r>
              <a:rPr lang="tr-TR" sz="1600" b="0" i="0" dirty="0" err="1">
                <a:solidFill>
                  <a:srgbClr val="0F1115"/>
                </a:solidFill>
                <a:effectLst/>
                <a:latin typeface="+mj-lt"/>
              </a:rPr>
              <a:t>OTEL'in</a:t>
            </a:r>
            <a:r>
              <a:rPr lang="tr-TR" sz="1600" b="0" i="0" dirty="0">
                <a:solidFill>
                  <a:srgbClr val="0F1115"/>
                </a:solidFill>
                <a:effectLst/>
                <a:latin typeface="+mj-lt"/>
              </a:rPr>
              <a:t> temel değeridir ve her kararımızda rehberimiz olacaktır.</a:t>
            </a:r>
          </a:p>
        </p:txBody>
      </p:sp>
    </p:spTree>
    <p:extLst>
      <p:ext uri="{BB962C8B-B14F-4D97-AF65-F5344CB8AC3E}">
        <p14:creationId xmlns:p14="http://schemas.microsoft.com/office/powerpoint/2010/main" val="1547149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84D5CEA-5310-E6D1-E191-0D24C5C191A5}"/>
              </a:ext>
            </a:extLst>
          </p:cNvPr>
          <p:cNvSpPr>
            <a:spLocks noGrp="1"/>
          </p:cNvSpPr>
          <p:nvPr>
            <p:ph idx="1"/>
          </p:nvPr>
        </p:nvSpPr>
        <p:spPr>
          <a:xfrm>
            <a:off x="494522" y="503853"/>
            <a:ext cx="10859278" cy="5645020"/>
          </a:xfrm>
        </p:spPr>
        <p:txBody>
          <a:bodyPr>
            <a:normAutofit/>
          </a:bodyPr>
          <a:lstStyle/>
          <a:p>
            <a:pPr marL="0" indent="0">
              <a:buNone/>
            </a:pPr>
            <a:r>
              <a:rPr lang="tr-TR" b="1" dirty="0"/>
              <a:t> </a:t>
            </a:r>
            <a:r>
              <a:rPr lang="tr-TR" sz="2400" b="1" dirty="0"/>
              <a:t>Saygı, Güvenlik ve Yaşam Hakkı Politikamız ;</a:t>
            </a:r>
          </a:p>
          <a:p>
            <a:pPr marL="0" indent="0">
              <a:buNone/>
            </a:pPr>
            <a:endParaRPr lang="tr-TR" sz="1400" b="1" dirty="0">
              <a:latin typeface="quote-cjk-patch"/>
            </a:endParaRPr>
          </a:p>
          <a:p>
            <a:pPr marL="0" indent="0">
              <a:buNone/>
            </a:pPr>
            <a:r>
              <a:rPr lang="tr-TR" sz="1400" dirty="0">
                <a:latin typeface="+mj-lt"/>
                <a:cs typeface="Traditional Arabic" panose="020F0502020204030204" pitchFamily="18" charset="-78"/>
              </a:rPr>
              <a:t>Lago Otel olarak, sadece bir işletme değil, içinde yaşadığımız toplumun bir parçası ve sorumlu bir üyesi olduğumuz bilinciyle hareket ediyoruz. Temel inancımız, her canlının -insanın ve hayvanın- onuruna, beden bütünlüğüne ve yaşam hakkına saygı duyulması gerektiğidir. Bu nedenle, faaliyetlerimizin merkezine insan hakları değerlerini ve şiddetsizliği koyuyoruz.</a:t>
            </a:r>
          </a:p>
          <a:p>
            <a:pPr marL="0" indent="0">
              <a:buNone/>
            </a:pPr>
            <a:r>
              <a:rPr lang="tr-TR" sz="1400" dirty="0">
                <a:latin typeface="+mj-lt"/>
                <a:cs typeface="Traditional Arabic" panose="020F0502020204030204" pitchFamily="18" charset="-78"/>
              </a:rPr>
              <a:t>Kadına, çocuğa ve hayvana yönelik şiddetin her biçimi, burada kesinlikle kabul edilemez</a:t>
            </a:r>
            <a:r>
              <a:rPr lang="tr-TR" sz="1400" b="1" dirty="0">
                <a:latin typeface="+mj-lt"/>
                <a:cs typeface="Traditional Arabic" panose="020F0502020204030204" pitchFamily="18" charset="-78"/>
              </a:rPr>
              <a:t>.</a:t>
            </a:r>
            <a:r>
              <a:rPr lang="tr-TR" sz="1400" dirty="0">
                <a:latin typeface="+mj-lt"/>
                <a:cs typeface="Traditional Arabic" panose="020F0502020204030204" pitchFamily="18" charset="-78"/>
              </a:rPr>
              <a:t> Fiziksel, psikolojik, ekonomik veya dijital olsun, şiddet ve ayrımcılık kapılarımızdan içeri giremez. Çalışanlarımız, bu temel ilkeyi benimsemek ve korumak için eğitilir. Misafirlerimizden de, bu güvenli ve saygılı ortamı birlikte muhafaza etmelerini bekleriz.</a:t>
            </a:r>
          </a:p>
          <a:p>
            <a:pPr marL="0" indent="0">
              <a:buNone/>
            </a:pPr>
            <a:r>
              <a:rPr lang="tr-TR" sz="1400" dirty="0">
                <a:latin typeface="+mj-lt"/>
                <a:cs typeface="Traditional Arabic" panose="020F0502020204030204" pitchFamily="18" charset="-78"/>
              </a:rPr>
              <a:t>Bu taahhüdümüz, sözde kalmaz. Tesiste veya tesisimizi temsilen gerçekleşen herhangi bir etkileşimde, bir şiddet belirtisi, taciz vakası veya hak ihlali fark edildiğinde, sessiz kalmayacağız. Sürece derhal, kararlılıkla ve mağdurun gizliliği ve güvenliği en ön planda tutularak müdahale edilecek, durum gerektiriyorsa yetkili makamlara bildirilecektir.</a:t>
            </a:r>
          </a:p>
          <a:p>
            <a:pPr marL="0" indent="0">
              <a:buNone/>
            </a:pPr>
            <a:r>
              <a:rPr lang="tr-TR" sz="1400" dirty="0">
                <a:latin typeface="+mj-lt"/>
                <a:cs typeface="Traditional Arabic" panose="020F0502020204030204" pitchFamily="18" charset="-78"/>
              </a:rPr>
              <a:t>Özellikle çocukların korunması, en kutsal sorumluluğumuzdur. Onların masumiyetine ve güvenliğine gölge düşürecek her türlü davranış veya ortamdan titizlikle kaçınırız. Aynı şekilde, tesisimizle ilişkili herhangi bir hayvanın refahı da gözetimimiz altındadır; ihmal veya zalimlik asla tolere edilmez.</a:t>
            </a:r>
          </a:p>
          <a:p>
            <a:pPr marL="0" indent="0">
              <a:buNone/>
            </a:pPr>
            <a:r>
              <a:rPr lang="tr-TR" sz="1400" dirty="0">
                <a:latin typeface="+mj-lt"/>
                <a:cs typeface="Traditional Arabic" panose="020F0502020204030204" pitchFamily="18" charset="-78"/>
              </a:rPr>
              <a:t>Bu politikamız, statik bir belge değil, canlı bir sözdür. Sürekli gelişen bir taahhüttür. Çalışan eğitimlerimizle, tedarikçi seçimlerimizle ve günlük kararlarımızla bu sözü her gün yeniden verir, yeniden hatırlar ve uygularız.</a:t>
            </a:r>
          </a:p>
          <a:p>
            <a:pPr marL="0" indent="0">
              <a:buNone/>
            </a:pPr>
            <a:r>
              <a:rPr lang="tr-TR" sz="1400" dirty="0">
                <a:latin typeface="+mj-lt"/>
                <a:cs typeface="Traditional Arabic" panose="020F0502020204030204" pitchFamily="18" charset="-78"/>
              </a:rPr>
              <a:t>Biz, Lago Otel çalışanları ve yönetimi olarak, burada herkes için -kadın, erkek, çocuk, hayvan- güvenli, onurlu ve şiddetten uzak bir alan yaratma ve sürdürme sözü veriyoruz.</a:t>
            </a:r>
          </a:p>
        </p:txBody>
      </p:sp>
    </p:spTree>
    <p:extLst>
      <p:ext uri="{BB962C8B-B14F-4D97-AF65-F5344CB8AC3E}">
        <p14:creationId xmlns:p14="http://schemas.microsoft.com/office/powerpoint/2010/main" val="362788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7E1F1-88E1-7EE4-CEA4-A9A4F23D4A5D}"/>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E410BE84-9B79-516F-5C4A-0AAD3EEC18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5847" y="1558214"/>
            <a:ext cx="1750780" cy="5352127"/>
          </a:xfrm>
          <a:prstGeom prst="rect">
            <a:avLst/>
          </a:prstGeom>
        </p:spPr>
      </p:pic>
      <p:pic>
        <p:nvPicPr>
          <p:cNvPr id="7" name="Resim 6">
            <a:extLst>
              <a:ext uri="{FF2B5EF4-FFF2-40B4-BE49-F238E27FC236}">
                <a16:creationId xmlns:a16="http://schemas.microsoft.com/office/drawing/2014/main" id="{28973F8C-471C-FD7A-FFF3-56020BF469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4879" y="219410"/>
            <a:ext cx="587668" cy="438261"/>
          </a:xfrm>
          <a:prstGeom prst="rect">
            <a:avLst/>
          </a:prstGeom>
        </p:spPr>
      </p:pic>
      <p:sp>
        <p:nvSpPr>
          <p:cNvPr id="2" name="Dikdörtgen 1">
            <a:extLst>
              <a:ext uri="{FF2B5EF4-FFF2-40B4-BE49-F238E27FC236}">
                <a16:creationId xmlns:a16="http://schemas.microsoft.com/office/drawing/2014/main" id="{E97F373C-A146-37F9-6D79-66076CBCEE46}"/>
              </a:ext>
            </a:extLst>
          </p:cNvPr>
          <p:cNvSpPr/>
          <p:nvPr/>
        </p:nvSpPr>
        <p:spPr>
          <a:xfrm>
            <a:off x="2217845" y="2071396"/>
            <a:ext cx="1884784" cy="456719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r>
              <a:rPr lang="tr-TR" sz="1050" b="1"/>
              <a:t>Sürekli Eğitim:</a:t>
            </a:r>
            <a:r>
              <a:rPr lang="tr-TR" sz="1050"/>
              <a:t> Tüm çalışanlarımıza, otelimizin çevre politikası ve sürdürülebilirlik hedefleri konusunda düzenli eğitimler veriyoruz.</a:t>
            </a:r>
          </a:p>
          <a:p>
            <a:pPr lvl="0"/>
            <a:r>
              <a:rPr lang="tr-TR" sz="1050" b="1"/>
              <a:t>Güvenli Ortam:</a:t>
            </a:r>
            <a:r>
              <a:rPr lang="tr-TR" sz="1050"/>
              <a:t> Çalışma koşullarının ve kullanılan kimyasalların uluslararası standartlara uygun olması için gerekli tüm önlemleri alıyor ve denetimleri yapıyoruz.</a:t>
            </a:r>
          </a:p>
          <a:p>
            <a:pPr lvl="0"/>
            <a:r>
              <a:rPr lang="tr-TR" sz="1050" b="1"/>
              <a:t>Adil ve Katılımcı Ortam:</a:t>
            </a:r>
            <a:r>
              <a:rPr lang="tr-TR" sz="1050"/>
              <a:t> Herkese eşit fırsat sunuyor, düzenli memnuniyet anketleri yapıyor ve çalışanlarımızın fikirlerini dinlemek için mekanizmalar kuruyoruz.</a:t>
            </a:r>
          </a:p>
          <a:p>
            <a:pPr lvl="0"/>
            <a:r>
              <a:rPr lang="tr-TR" sz="1050" b="1"/>
              <a:t>Çeşitliliğe Değer:</a:t>
            </a:r>
            <a:r>
              <a:rPr lang="tr-TR" sz="1050"/>
              <a:t> İşe alım ve gelişim süreçlerimizde adil ve kapsayıcı bir yaklaşım benimsiyor, farklılıkları zenginlik olarak görüyoruz.</a:t>
            </a:r>
          </a:p>
        </p:txBody>
      </p:sp>
      <p:sp>
        <p:nvSpPr>
          <p:cNvPr id="4" name="Dikdörtgen 3">
            <a:extLst>
              <a:ext uri="{FF2B5EF4-FFF2-40B4-BE49-F238E27FC236}">
                <a16:creationId xmlns:a16="http://schemas.microsoft.com/office/drawing/2014/main" id="{A6A56645-16F3-0028-4534-AB44995899E4}"/>
              </a:ext>
            </a:extLst>
          </p:cNvPr>
          <p:cNvSpPr/>
          <p:nvPr/>
        </p:nvSpPr>
        <p:spPr>
          <a:xfrm>
            <a:off x="6246243" y="2089035"/>
            <a:ext cx="1884784" cy="45327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r>
              <a:rPr lang="tr-TR" sz="1000" b="1">
                <a:latin typeface="Arial" panose="020B0604020202020204" pitchFamily="34" charset="0"/>
                <a:cs typeface="Arial" panose="020B0604020202020204" pitchFamily="34" charset="0"/>
              </a:rPr>
              <a:t>Yasalara Tam Uyum:</a:t>
            </a:r>
            <a:r>
              <a:rPr lang="tr-TR" sz="1000">
                <a:latin typeface="Arial" panose="020B0604020202020204" pitchFamily="34" charset="0"/>
                <a:cs typeface="Arial" panose="020B0604020202020204" pitchFamily="34" charset="0"/>
              </a:rPr>
              <a:t> Çevre, enerji, atık ve çalışma mevzuatına tam olarak uyuyoruz. Bu uyum, düzenli iç denetimlerimizin temel konusudur.</a:t>
            </a:r>
          </a:p>
          <a:p>
            <a:pPr lvl="0"/>
            <a:r>
              <a:rPr lang="tr-TR" sz="1000" b="1">
                <a:latin typeface="Arial" panose="020B0604020202020204" pitchFamily="34" charset="0"/>
                <a:cs typeface="Arial" panose="020B0604020202020204" pitchFamily="34" charset="0"/>
              </a:rPr>
              <a:t>Eksiksiz Raporlama:</a:t>
            </a:r>
            <a:r>
              <a:rPr lang="tr-TR" sz="1000">
                <a:latin typeface="Arial" panose="020B0604020202020204" pitchFamily="34" charset="0"/>
                <a:cs typeface="Arial" panose="020B0604020202020204" pitchFamily="34" charset="0"/>
              </a:rPr>
              <a:t> Gereken tüm çevresel izinleri alıyor ve yasal raporlamalarımızı zamanında yapıyoruz.</a:t>
            </a:r>
          </a:p>
          <a:p>
            <a:pPr lvl="0"/>
            <a:r>
              <a:rPr lang="tr-TR" sz="1000" b="1">
                <a:latin typeface="Arial" panose="020B0604020202020204" pitchFamily="34" charset="0"/>
                <a:cs typeface="Arial" panose="020B0604020202020204" pitchFamily="34" charset="0"/>
              </a:rPr>
              <a:t>Vergi ve Yükümlülükler:</a:t>
            </a:r>
            <a:r>
              <a:rPr lang="tr-TR" sz="1000">
                <a:latin typeface="Arial" panose="020B0604020202020204" pitchFamily="34" charset="0"/>
                <a:cs typeface="Arial" panose="020B0604020202020204" pitchFamily="34" charset="0"/>
              </a:rPr>
              <a:t> Tüm vergi ve yasal katkılarımızı zamanında ve eksiksiz ödüyoruz.</a:t>
            </a:r>
          </a:p>
          <a:p>
            <a:pPr lvl="0"/>
            <a:r>
              <a:rPr lang="tr-TR" sz="1000" b="1">
                <a:latin typeface="Arial" panose="020B0604020202020204" pitchFamily="34" charset="0"/>
                <a:cs typeface="Arial" panose="020B0604020202020204" pitchFamily="34" charset="0"/>
              </a:rPr>
              <a:t>Kamu Hedeflerine Destek:</a:t>
            </a:r>
            <a:r>
              <a:rPr lang="tr-TR" sz="1000">
                <a:latin typeface="Arial" panose="020B0604020202020204" pitchFamily="34" charset="0"/>
                <a:cs typeface="Arial" panose="020B0604020202020204" pitchFamily="34" charset="0"/>
              </a:rPr>
              <a:t> Enerji verimliliği ve istihdam gibi ulusal hedeflere katkıda bulunacak projelere öncelik veriyoruz.</a:t>
            </a:r>
          </a:p>
        </p:txBody>
      </p:sp>
      <p:sp>
        <p:nvSpPr>
          <p:cNvPr id="5" name="Dikdörtgen 4">
            <a:extLst>
              <a:ext uri="{FF2B5EF4-FFF2-40B4-BE49-F238E27FC236}">
                <a16:creationId xmlns:a16="http://schemas.microsoft.com/office/drawing/2014/main" id="{FE4855CF-54A0-B201-838B-DAE8DDB48B20}"/>
              </a:ext>
            </a:extLst>
          </p:cNvPr>
          <p:cNvSpPr/>
          <p:nvPr/>
        </p:nvSpPr>
        <p:spPr>
          <a:xfrm>
            <a:off x="8243107" y="2102360"/>
            <a:ext cx="1884784" cy="45193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r>
              <a:rPr lang="tr-TR" sz="1000" b="1" dirty="0">
                <a:latin typeface="Arial" panose="020B0604020202020204" pitchFamily="34" charset="0"/>
                <a:cs typeface="Arial" panose="020B0604020202020204" pitchFamily="34" charset="0"/>
              </a:rPr>
              <a:t>Diyalog ve İş Birliği:</a:t>
            </a:r>
            <a:r>
              <a:rPr lang="tr-TR" sz="1000" dirty="0">
                <a:latin typeface="Arial" panose="020B0604020202020204" pitchFamily="34" charset="0"/>
                <a:cs typeface="Arial" panose="020B0604020202020204" pitchFamily="34" charset="0"/>
              </a:rPr>
              <a:t> Çevre, kültür ve sosyal konularda çalışan STK'larla iletişim halindeyiz ve ortak çalışmalar yapıyoruz.</a:t>
            </a:r>
          </a:p>
          <a:p>
            <a:pPr lvl="0"/>
            <a:r>
              <a:rPr lang="tr-TR" sz="1000" b="1" dirty="0">
                <a:latin typeface="Arial" panose="020B0604020202020204" pitchFamily="34" charset="0"/>
                <a:cs typeface="Arial" panose="020B0604020202020204" pitchFamily="34" charset="0"/>
              </a:rPr>
              <a:t>Proje Desteği:</a:t>
            </a:r>
            <a:r>
              <a:rPr lang="tr-TR" sz="1000" dirty="0">
                <a:latin typeface="Arial" panose="020B0604020202020204" pitchFamily="34" charset="0"/>
                <a:cs typeface="Arial" panose="020B0604020202020204" pitchFamily="34" charset="0"/>
              </a:rPr>
              <a:t> Yerel ve küresel sürdürülebilirlik projelerine, güvenilir STK'lar aracılığıyla destek oluyoruz.</a:t>
            </a:r>
          </a:p>
          <a:p>
            <a:r>
              <a:rPr lang="tr-TR" sz="1000" b="1" dirty="0">
                <a:latin typeface="Arial" panose="020B0604020202020204" pitchFamily="34" charset="0"/>
                <a:cs typeface="Arial" panose="020B0604020202020204" pitchFamily="34" charset="0"/>
              </a:rPr>
              <a:t>Bağımsız Denetim ve Gelişim:</a:t>
            </a:r>
            <a:r>
              <a:rPr lang="tr-TR" sz="1000" dirty="0">
                <a:latin typeface="Arial" panose="020B0604020202020204" pitchFamily="34" charset="0"/>
                <a:cs typeface="Arial" panose="020B0604020202020204" pitchFamily="34" charset="0"/>
              </a:rPr>
              <a:t> ISO 14001'e ek olarak sektörel sertifikalar almayı devam eden , bağımsız kuruluşların geri bildirimlerini ciddiye alıyoruz</a:t>
            </a:r>
          </a:p>
        </p:txBody>
      </p:sp>
      <p:sp>
        <p:nvSpPr>
          <p:cNvPr id="8" name="Dikdörtgen 7">
            <a:extLst>
              <a:ext uri="{FF2B5EF4-FFF2-40B4-BE49-F238E27FC236}">
                <a16:creationId xmlns:a16="http://schemas.microsoft.com/office/drawing/2014/main" id="{2BC93544-B8A3-7898-3475-2D7B6B3373CB}"/>
              </a:ext>
            </a:extLst>
          </p:cNvPr>
          <p:cNvSpPr/>
          <p:nvPr/>
        </p:nvSpPr>
        <p:spPr>
          <a:xfrm>
            <a:off x="10178055" y="2071396"/>
            <a:ext cx="1884784" cy="453623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r>
              <a:rPr lang="tr-TR" sz="1000" b="1" dirty="0">
                <a:latin typeface="Arial" panose="020B0604020202020204" pitchFamily="34" charset="0"/>
                <a:cs typeface="Arial" panose="020B0604020202020204" pitchFamily="34" charset="0"/>
              </a:rPr>
              <a:t>Ekonomiye Canlılık:</a:t>
            </a:r>
            <a:r>
              <a:rPr lang="tr-TR" sz="1000" dirty="0">
                <a:latin typeface="Arial" panose="020B0604020202020204" pitchFamily="34" charset="0"/>
                <a:cs typeface="Arial" panose="020B0604020202020204" pitchFamily="34" charset="0"/>
              </a:rPr>
              <a:t> Mümkün olduğunca yerelden alım yapıyor ve iş gücümüzün önemli bir kısmını bölge halkından sağlıyoruz.</a:t>
            </a:r>
          </a:p>
          <a:p>
            <a:pPr lvl="0"/>
            <a:r>
              <a:rPr lang="tr-TR" sz="1000" b="1" dirty="0">
                <a:latin typeface="Arial" panose="020B0604020202020204" pitchFamily="34" charset="0"/>
                <a:cs typeface="Arial" panose="020B0604020202020204" pitchFamily="34" charset="0"/>
              </a:rPr>
              <a:t>Sosyal ve Kültürel Uyum:</a:t>
            </a:r>
            <a:r>
              <a:rPr lang="tr-TR" sz="1000" dirty="0">
                <a:latin typeface="Arial" panose="020B0604020202020204" pitchFamily="34" charset="0"/>
                <a:cs typeface="Arial" panose="020B0604020202020204" pitchFamily="34" charset="0"/>
              </a:rPr>
              <a:t> Yerel kültüre saygı gösteriyor, otelimizin bazı olanaklarını toplumla paylaşıyor ve yerel etkinliklere destek veriyoruz.</a:t>
            </a:r>
          </a:p>
          <a:p>
            <a:pPr lvl="0"/>
            <a:r>
              <a:rPr lang="tr-TR" sz="1000" b="1" dirty="0">
                <a:latin typeface="Arial" panose="020B0604020202020204" pitchFamily="34" charset="0"/>
                <a:cs typeface="Arial" panose="020B0604020202020204" pitchFamily="34" charset="0"/>
              </a:rPr>
              <a:t>Çevresel Sorumluluk:</a:t>
            </a:r>
            <a:r>
              <a:rPr lang="tr-TR" sz="1000" dirty="0">
                <a:latin typeface="Arial" panose="020B0604020202020204" pitchFamily="34" charset="0"/>
                <a:cs typeface="Arial" panose="020B0604020202020204" pitchFamily="34" charset="0"/>
              </a:rPr>
              <a:t> Faaliyetlerimizin su, atık ve doğal çevre üzerindeki etkisini en aza indirmek için çalışıyor, yerel halkın görüş ve şikayetlerini dinlemeye hazırız.</a:t>
            </a:r>
          </a:p>
          <a:p>
            <a:pPr lvl="0"/>
            <a:r>
              <a:rPr lang="tr-TR" sz="1000" b="1" dirty="0">
                <a:latin typeface="Arial" panose="020B0604020202020204" pitchFamily="34" charset="0"/>
                <a:cs typeface="Arial" panose="020B0604020202020204" pitchFamily="34" charset="0"/>
              </a:rPr>
              <a:t>Mirasın Koruyucusu:</a:t>
            </a:r>
            <a:r>
              <a:rPr lang="tr-TR" sz="1000" dirty="0">
                <a:latin typeface="Arial" panose="020B0604020202020204" pitchFamily="34" charset="0"/>
                <a:cs typeface="Arial" panose="020B0604020202020204" pitchFamily="34" charset="0"/>
              </a:rPr>
              <a:t> Bulunduğumuz bölgenin kültürel ve doğal güzelliklerini korumak ve misafirlerimize doğru şekilde tanıtmak için çaba gösteriyoruz.</a:t>
            </a:r>
          </a:p>
        </p:txBody>
      </p:sp>
      <p:sp>
        <p:nvSpPr>
          <p:cNvPr id="9" name="Dikdörtgen 8">
            <a:extLst>
              <a:ext uri="{FF2B5EF4-FFF2-40B4-BE49-F238E27FC236}">
                <a16:creationId xmlns:a16="http://schemas.microsoft.com/office/drawing/2014/main" id="{F8A386DB-5FB6-3EBC-B79C-B04D872F2245}"/>
              </a:ext>
            </a:extLst>
          </p:cNvPr>
          <p:cNvSpPr/>
          <p:nvPr/>
        </p:nvSpPr>
        <p:spPr>
          <a:xfrm>
            <a:off x="4221693" y="2105876"/>
            <a:ext cx="1884784" cy="45327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r>
              <a:rPr lang="tr-TR" sz="1000" b="1" dirty="0">
                <a:latin typeface="Arial" panose="020B0604020202020204" pitchFamily="34" charset="0"/>
                <a:cs typeface="Arial" panose="020B0604020202020204" pitchFamily="34" charset="0"/>
              </a:rPr>
              <a:t>Sorumlu Tedarik:</a:t>
            </a:r>
            <a:r>
              <a:rPr lang="tr-TR" sz="1000" dirty="0">
                <a:latin typeface="Arial" panose="020B0604020202020204" pitchFamily="34" charset="0"/>
                <a:cs typeface="Arial" panose="020B0604020202020204" pitchFamily="34" charset="0"/>
              </a:rPr>
              <a:t> Yeni tedarikçi seçerken, ürünün yerelliği, sertifikaları ve sosyal sorumluluk standartları gibi kriterlere bakıyoruz.</a:t>
            </a:r>
          </a:p>
          <a:p>
            <a:pPr lvl="0"/>
            <a:r>
              <a:rPr lang="tr-TR" sz="1000" b="1" dirty="0">
                <a:latin typeface="Arial" panose="020B0604020202020204" pitchFamily="34" charset="0"/>
                <a:cs typeface="Arial" panose="020B0604020202020204" pitchFamily="34" charset="0"/>
              </a:rPr>
              <a:t>Birlikte Gelişim:</a:t>
            </a:r>
            <a:r>
              <a:rPr lang="tr-TR" sz="1000" dirty="0">
                <a:latin typeface="Arial" panose="020B0604020202020204" pitchFamily="34" charset="0"/>
                <a:cs typeface="Arial" panose="020B0604020202020204" pitchFamily="34" charset="0"/>
              </a:rPr>
              <a:t> Önemli tedarikçilerimizin performansını gözden geçiriyor, gerekirse iyileştirme yapmaları için onlarla birlikte çalışıyoruz.</a:t>
            </a:r>
          </a:p>
          <a:p>
            <a:pPr lvl="0"/>
            <a:r>
              <a:rPr lang="tr-TR" sz="1000" b="1" dirty="0">
                <a:latin typeface="Arial" panose="020B0604020202020204" pitchFamily="34" charset="0"/>
                <a:cs typeface="Arial" panose="020B0604020202020204" pitchFamily="34" charset="0"/>
              </a:rPr>
              <a:t>Uzun Soluklu İş Birlikleri:</a:t>
            </a:r>
            <a:r>
              <a:rPr lang="tr-TR" sz="1000" dirty="0">
                <a:latin typeface="Arial" panose="020B0604020202020204" pitchFamily="34" charset="0"/>
                <a:cs typeface="Arial" panose="020B0604020202020204" pitchFamily="34" charset="0"/>
              </a:rPr>
              <a:t> Sürdürülebilirlik hedeflerimize ulaşmak için tedarikçilerimizle ortak projeler geliştiriyoruz.</a:t>
            </a:r>
          </a:p>
          <a:p>
            <a:r>
              <a:rPr lang="tr-TR" sz="1000" b="1" dirty="0">
                <a:latin typeface="Arial" panose="020B0604020202020204" pitchFamily="34" charset="0"/>
                <a:cs typeface="Arial" panose="020B0604020202020204" pitchFamily="34" charset="0"/>
              </a:rPr>
              <a:t>Şeffaf İlişki:</a:t>
            </a:r>
            <a:r>
              <a:rPr lang="tr-TR" sz="1000" dirty="0">
                <a:latin typeface="Arial" panose="020B0604020202020204" pitchFamily="34" charset="0"/>
                <a:cs typeface="Arial" panose="020B0604020202020204" pitchFamily="34" charset="0"/>
              </a:rPr>
              <a:t> Menülerimizde ve bilgilendirmelerimizde, kullandığımız ürünlerin kaynağı ve özellikleri hakkında bilgi veriyoruz</a:t>
            </a:r>
          </a:p>
        </p:txBody>
      </p:sp>
      <p:sp>
        <p:nvSpPr>
          <p:cNvPr id="10" name="Dikdörtgen 9">
            <a:extLst>
              <a:ext uri="{FF2B5EF4-FFF2-40B4-BE49-F238E27FC236}">
                <a16:creationId xmlns:a16="http://schemas.microsoft.com/office/drawing/2014/main" id="{96E3B9E9-A22D-CBAF-7745-16EA297F67F4}"/>
              </a:ext>
            </a:extLst>
          </p:cNvPr>
          <p:cNvSpPr/>
          <p:nvPr/>
        </p:nvSpPr>
        <p:spPr>
          <a:xfrm>
            <a:off x="194164" y="2071396"/>
            <a:ext cx="1834346" cy="456719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r>
              <a:rPr lang="tr-TR" sz="1000" b="1" dirty="0">
                <a:latin typeface="Arial" panose="020B0604020202020204" pitchFamily="34" charset="0"/>
                <a:cs typeface="Arial" panose="020B0604020202020204" pitchFamily="34" charset="0"/>
              </a:rPr>
              <a:t>Konfor ve Güven:</a:t>
            </a:r>
            <a:r>
              <a:rPr lang="tr-TR" sz="1000" dirty="0">
                <a:latin typeface="Arial" panose="020B0604020202020204" pitchFamily="34" charset="0"/>
                <a:cs typeface="Arial" panose="020B0604020202020204" pitchFamily="34" charset="0"/>
              </a:rPr>
              <a:t> Sürdürülebilir ürünler kullanırken misafir konforu ve hijyen standartlarımızdan asla ödün vermeyiz. Bu durum, düzenli denetim ve anket sonuçlarımızla takip edilir.</a:t>
            </a:r>
          </a:p>
          <a:p>
            <a:pPr lvl="0"/>
            <a:r>
              <a:rPr lang="tr-TR" sz="1000" b="1" dirty="0">
                <a:latin typeface="Arial" panose="020B0604020202020204" pitchFamily="34" charset="0"/>
                <a:cs typeface="Arial" panose="020B0604020202020204" pitchFamily="34" charset="0"/>
              </a:rPr>
              <a:t>Katılıma Davet:</a:t>
            </a:r>
            <a:r>
              <a:rPr lang="tr-TR" sz="1000" dirty="0">
                <a:latin typeface="Arial" panose="020B0604020202020204" pitchFamily="34" charset="0"/>
                <a:cs typeface="Arial" panose="020B0604020202020204" pitchFamily="34" charset="0"/>
              </a:rPr>
              <a:t> Misafirlerimizi su ve enerji tasarrufuna ortak ediyoruz. Odalardaki bilgilendirme ve "yeniden kullanım" seçenekleri ile onların da katkı sunmasını kolaylaştırıyoruz.</a:t>
            </a:r>
          </a:p>
          <a:p>
            <a:pPr lvl="0"/>
            <a:r>
              <a:rPr lang="tr-TR" sz="1000" b="1" dirty="0">
                <a:latin typeface="Arial" panose="020B0604020202020204" pitchFamily="34" charset="0"/>
                <a:cs typeface="Arial" panose="020B0604020202020204" pitchFamily="34" charset="0"/>
              </a:rPr>
              <a:t>Açık Bilgilendirme:</a:t>
            </a:r>
            <a:r>
              <a:rPr lang="tr-TR" sz="1000" dirty="0">
                <a:latin typeface="Arial" panose="020B0604020202020204" pitchFamily="34" charset="0"/>
                <a:cs typeface="Arial" panose="020B0604020202020204" pitchFamily="34" charset="0"/>
              </a:rPr>
              <a:t> Sertifikalarımızı ve çevre politikamızı, otelimizin dijital kanallarında ve lobi ekranlarında açıkça paylaşıyoruz.</a:t>
            </a:r>
          </a:p>
          <a:p>
            <a:pPr lvl="0"/>
            <a:r>
              <a:rPr lang="tr-TR" sz="1000" b="1" dirty="0">
                <a:latin typeface="Arial" panose="020B0604020202020204" pitchFamily="34" charset="0"/>
                <a:cs typeface="Arial" panose="020B0604020202020204" pitchFamily="34" charset="0"/>
              </a:rPr>
              <a:t>Sorumlu Tercihler Sunuyoruz:</a:t>
            </a:r>
            <a:r>
              <a:rPr lang="tr-TR" sz="1000" dirty="0">
                <a:latin typeface="Arial" panose="020B0604020202020204" pitchFamily="34" charset="0"/>
                <a:cs typeface="Arial" panose="020B0604020202020204" pitchFamily="34" charset="0"/>
              </a:rPr>
              <a:t> Restoranlarımızda bölgeden gelen ürünleri öne çıkarıyor, tek kullanımlık plastikleri azaltıyor ve çevre dostu temizlik malzemeleri kullanıyoruz.</a:t>
            </a:r>
          </a:p>
        </p:txBody>
      </p:sp>
      <p:sp>
        <p:nvSpPr>
          <p:cNvPr id="11" name="Dikdörtgen 10">
            <a:extLst>
              <a:ext uri="{FF2B5EF4-FFF2-40B4-BE49-F238E27FC236}">
                <a16:creationId xmlns:a16="http://schemas.microsoft.com/office/drawing/2014/main" id="{B799013B-1EEF-E9CA-5711-F924C79FA3F6}"/>
              </a:ext>
            </a:extLst>
          </p:cNvPr>
          <p:cNvSpPr/>
          <p:nvPr/>
        </p:nvSpPr>
        <p:spPr>
          <a:xfrm>
            <a:off x="1240971" y="219410"/>
            <a:ext cx="10245013" cy="75265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tr-TR" sz="1400" dirty="0"/>
              <a:t>Lago Otel ailesi olarak, her misafirimizin, çalışma arkadaşımızın ve bu toprakların bir parçası olmanın bize yüklediği bir sorumluluk olduğunu düşünüyoruz. Bu sayfada, sürdürülebilirlik adımlarımızı </a:t>
            </a:r>
            <a:r>
              <a:rPr lang="tr-TR" sz="1400" i="1" dirty="0"/>
              <a:t>birlikte</a:t>
            </a:r>
            <a:r>
              <a:rPr lang="tr-TR" sz="1400" dirty="0"/>
              <a:t> nasıl attığımızın hikayesini sizinle paylaşmak istiyoruz.</a:t>
            </a:r>
          </a:p>
        </p:txBody>
      </p:sp>
      <p:sp>
        <p:nvSpPr>
          <p:cNvPr id="12" name="Oval 11">
            <a:extLst>
              <a:ext uri="{FF2B5EF4-FFF2-40B4-BE49-F238E27FC236}">
                <a16:creationId xmlns:a16="http://schemas.microsoft.com/office/drawing/2014/main" id="{3991E497-5AD1-7842-F02B-1A3D66C853EF}"/>
              </a:ext>
            </a:extLst>
          </p:cNvPr>
          <p:cNvSpPr/>
          <p:nvPr/>
        </p:nvSpPr>
        <p:spPr>
          <a:xfrm>
            <a:off x="4322329" y="1006389"/>
            <a:ext cx="1728927" cy="1103649"/>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tr-TR" sz="1050" b="1" dirty="0"/>
              <a:t>TEDARİKÇİLERİMİZ</a:t>
            </a:r>
          </a:p>
        </p:txBody>
      </p:sp>
      <p:sp>
        <p:nvSpPr>
          <p:cNvPr id="13" name="Oval 12">
            <a:extLst>
              <a:ext uri="{FF2B5EF4-FFF2-40B4-BE49-F238E27FC236}">
                <a16:creationId xmlns:a16="http://schemas.microsoft.com/office/drawing/2014/main" id="{29C5C940-C5A9-F6B9-2D09-E51BD8E58F56}"/>
              </a:ext>
            </a:extLst>
          </p:cNvPr>
          <p:cNvSpPr/>
          <p:nvPr/>
        </p:nvSpPr>
        <p:spPr>
          <a:xfrm>
            <a:off x="6429421" y="967744"/>
            <a:ext cx="1617906" cy="1103649"/>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tr-TR" sz="1050" b="1" dirty="0"/>
              <a:t>KAMU KURUMLARI </a:t>
            </a:r>
          </a:p>
        </p:txBody>
      </p:sp>
      <p:sp>
        <p:nvSpPr>
          <p:cNvPr id="19" name="Oval 18">
            <a:extLst>
              <a:ext uri="{FF2B5EF4-FFF2-40B4-BE49-F238E27FC236}">
                <a16:creationId xmlns:a16="http://schemas.microsoft.com/office/drawing/2014/main" id="{0671C9D6-F9F0-36D9-3B39-1697E619F38A}"/>
              </a:ext>
            </a:extLst>
          </p:cNvPr>
          <p:cNvSpPr/>
          <p:nvPr/>
        </p:nvSpPr>
        <p:spPr>
          <a:xfrm>
            <a:off x="8402445" y="998711"/>
            <a:ext cx="1517639" cy="1103649"/>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tr-TR" sz="1050" b="1" dirty="0"/>
              <a:t>SİVİL TOPLUM KURULUŞLARI </a:t>
            </a:r>
          </a:p>
        </p:txBody>
      </p:sp>
      <p:sp>
        <p:nvSpPr>
          <p:cNvPr id="20" name="Oval 19">
            <a:extLst>
              <a:ext uri="{FF2B5EF4-FFF2-40B4-BE49-F238E27FC236}">
                <a16:creationId xmlns:a16="http://schemas.microsoft.com/office/drawing/2014/main" id="{ACA614ED-15E9-6197-459B-EE0021254C35}"/>
              </a:ext>
            </a:extLst>
          </p:cNvPr>
          <p:cNvSpPr/>
          <p:nvPr/>
        </p:nvSpPr>
        <p:spPr>
          <a:xfrm>
            <a:off x="10341146" y="922741"/>
            <a:ext cx="1517639" cy="1103649"/>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tr-TR" sz="1050" b="1" dirty="0"/>
              <a:t>YEREL TOPLULUKLAR </a:t>
            </a:r>
          </a:p>
        </p:txBody>
      </p:sp>
      <p:sp>
        <p:nvSpPr>
          <p:cNvPr id="21" name="Oval 20">
            <a:extLst>
              <a:ext uri="{FF2B5EF4-FFF2-40B4-BE49-F238E27FC236}">
                <a16:creationId xmlns:a16="http://schemas.microsoft.com/office/drawing/2014/main" id="{0822F908-6887-0E91-AC7B-2E3D3E8C70A6}"/>
              </a:ext>
            </a:extLst>
          </p:cNvPr>
          <p:cNvSpPr/>
          <p:nvPr/>
        </p:nvSpPr>
        <p:spPr>
          <a:xfrm>
            <a:off x="2271916" y="967745"/>
            <a:ext cx="1594178" cy="1103649"/>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tr-TR" sz="1050" b="1" dirty="0">
                <a:cs typeface="Arial" panose="020B0604020202020204" pitchFamily="34" charset="0"/>
              </a:rPr>
              <a:t>ÇALIŞANLARIMIZ</a:t>
            </a:r>
          </a:p>
        </p:txBody>
      </p:sp>
      <p:sp>
        <p:nvSpPr>
          <p:cNvPr id="22" name="Oval 21">
            <a:extLst>
              <a:ext uri="{FF2B5EF4-FFF2-40B4-BE49-F238E27FC236}">
                <a16:creationId xmlns:a16="http://schemas.microsoft.com/office/drawing/2014/main" id="{57F01CAA-1465-616E-4BC3-801FDD0256FC}"/>
              </a:ext>
            </a:extLst>
          </p:cNvPr>
          <p:cNvSpPr/>
          <p:nvPr/>
        </p:nvSpPr>
        <p:spPr>
          <a:xfrm>
            <a:off x="254879" y="967744"/>
            <a:ext cx="1517639" cy="1103649"/>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tr-TR" sz="1000" b="1" dirty="0"/>
              <a:t>MİSAFİRLERİMİZ</a:t>
            </a:r>
          </a:p>
        </p:txBody>
      </p:sp>
    </p:spTree>
    <p:extLst>
      <p:ext uri="{BB962C8B-B14F-4D97-AF65-F5344CB8AC3E}">
        <p14:creationId xmlns:p14="http://schemas.microsoft.com/office/powerpoint/2010/main" val="2374789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EC1E9-50F3-EAD9-4337-75D8E6513A4A}"/>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B8D4E240-2B0F-56E9-907F-E52EB13A91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A318DE17-871B-8E8D-5775-4EA355B599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graphicFrame>
        <p:nvGraphicFramePr>
          <p:cNvPr id="2" name="Grafik 1">
            <a:extLst>
              <a:ext uri="{FF2B5EF4-FFF2-40B4-BE49-F238E27FC236}">
                <a16:creationId xmlns:a16="http://schemas.microsoft.com/office/drawing/2014/main" id="{EBD6F378-12B2-0079-634D-1721A7FCC411}"/>
              </a:ext>
            </a:extLst>
          </p:cNvPr>
          <p:cNvGraphicFramePr/>
          <p:nvPr>
            <p:extLst>
              <p:ext uri="{D42A27DB-BD31-4B8C-83A1-F6EECF244321}">
                <p14:modId xmlns:p14="http://schemas.microsoft.com/office/powerpoint/2010/main" val="1123321361"/>
              </p:ext>
            </p:extLst>
          </p:nvPr>
        </p:nvGraphicFramePr>
        <p:xfrm>
          <a:off x="1328737" y="514580"/>
          <a:ext cx="9534526" cy="582883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875043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AD64D-A52E-AB43-C2B7-1FAA18E0BC31}"/>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A4F2C856-71CF-97F1-5407-C650D0331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34D1A1EC-FE6F-C459-C408-26B93C4F8E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graphicFrame>
        <p:nvGraphicFramePr>
          <p:cNvPr id="2" name="Grafik 1">
            <a:extLst>
              <a:ext uri="{FF2B5EF4-FFF2-40B4-BE49-F238E27FC236}">
                <a16:creationId xmlns:a16="http://schemas.microsoft.com/office/drawing/2014/main" id="{2BF5410E-BBC2-7C8E-C65C-415518CC77FE}"/>
              </a:ext>
            </a:extLst>
          </p:cNvPr>
          <p:cNvGraphicFramePr/>
          <p:nvPr>
            <p:extLst>
              <p:ext uri="{D42A27DB-BD31-4B8C-83A1-F6EECF244321}">
                <p14:modId xmlns:p14="http://schemas.microsoft.com/office/powerpoint/2010/main" val="1536731717"/>
              </p:ext>
            </p:extLst>
          </p:nvPr>
        </p:nvGraphicFramePr>
        <p:xfrm>
          <a:off x="2163366" y="1156510"/>
          <a:ext cx="7865268" cy="5352127"/>
        </p:xfrm>
        <a:graphic>
          <a:graphicData uri="http://schemas.openxmlformats.org/drawingml/2006/chart">
            <c:chart xmlns:c="http://schemas.openxmlformats.org/drawingml/2006/chart" xmlns:r="http://schemas.openxmlformats.org/officeDocument/2006/relationships" r:id="rId4"/>
          </a:graphicData>
        </a:graphic>
      </p:graphicFrame>
      <p:sp>
        <p:nvSpPr>
          <p:cNvPr id="3" name="Dikdörtgen 2">
            <a:extLst>
              <a:ext uri="{FF2B5EF4-FFF2-40B4-BE49-F238E27FC236}">
                <a16:creationId xmlns:a16="http://schemas.microsoft.com/office/drawing/2014/main" id="{349C0F9B-FC1A-0393-2E1A-76350E4DB33F}"/>
              </a:ext>
            </a:extLst>
          </p:cNvPr>
          <p:cNvSpPr/>
          <p:nvPr/>
        </p:nvSpPr>
        <p:spPr>
          <a:xfrm>
            <a:off x="3183311" y="464436"/>
            <a:ext cx="5825377" cy="461665"/>
          </a:xfrm>
          <a:prstGeom prst="rect">
            <a:avLst/>
          </a:prstGeom>
        </p:spPr>
        <p:txBody>
          <a:bodyPr wrap="none">
            <a:spAutoFit/>
          </a:bodyPr>
          <a:lstStyle/>
          <a:p>
            <a:r>
              <a:rPr lang="tr-TR" sz="2400" b="1" dirty="0"/>
              <a:t>2024-2025 SU TÜKETİMİ KIYASLAMA (m³/AY)</a:t>
            </a:r>
          </a:p>
        </p:txBody>
      </p:sp>
    </p:spTree>
    <p:extLst>
      <p:ext uri="{BB962C8B-B14F-4D97-AF65-F5344CB8AC3E}">
        <p14:creationId xmlns:p14="http://schemas.microsoft.com/office/powerpoint/2010/main" val="1552626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A7F27-76D1-6741-9A29-9D64275C7F83}"/>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5AB02F2A-1C8B-B17A-7660-6B0471BF7F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6B9682E0-E95C-24FD-6E2C-DAD9B8D47B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graphicFrame>
        <p:nvGraphicFramePr>
          <p:cNvPr id="2" name="Grafik 1">
            <a:extLst>
              <a:ext uri="{FF2B5EF4-FFF2-40B4-BE49-F238E27FC236}">
                <a16:creationId xmlns:a16="http://schemas.microsoft.com/office/drawing/2014/main" id="{2C6BBE6D-16EC-49FC-FC6A-41D1F16AB481}"/>
              </a:ext>
            </a:extLst>
          </p:cNvPr>
          <p:cNvGraphicFramePr/>
          <p:nvPr>
            <p:extLst>
              <p:ext uri="{D42A27DB-BD31-4B8C-83A1-F6EECF244321}">
                <p14:modId xmlns:p14="http://schemas.microsoft.com/office/powerpoint/2010/main" val="387053074"/>
              </p:ext>
            </p:extLst>
          </p:nvPr>
        </p:nvGraphicFramePr>
        <p:xfrm>
          <a:off x="1177938" y="361950"/>
          <a:ext cx="9836124" cy="650508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25472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0DBFE-2F58-3975-BB31-5D47340A68CD}"/>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30C8B816-7BD7-0F81-746D-5AC573CA19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CCB909EE-D17E-FE16-F897-BEC3D0E5F0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graphicFrame>
        <p:nvGraphicFramePr>
          <p:cNvPr id="2" name="Grafik 1">
            <a:extLst>
              <a:ext uri="{FF2B5EF4-FFF2-40B4-BE49-F238E27FC236}">
                <a16:creationId xmlns:a16="http://schemas.microsoft.com/office/drawing/2014/main" id="{EC156709-AED9-D0AE-D3F4-63EDFA3578F6}"/>
              </a:ext>
            </a:extLst>
          </p:cNvPr>
          <p:cNvGraphicFramePr/>
          <p:nvPr>
            <p:extLst>
              <p:ext uri="{D42A27DB-BD31-4B8C-83A1-F6EECF244321}">
                <p14:modId xmlns:p14="http://schemas.microsoft.com/office/powerpoint/2010/main" val="3141047421"/>
              </p:ext>
            </p:extLst>
          </p:nvPr>
        </p:nvGraphicFramePr>
        <p:xfrm>
          <a:off x="2495550" y="889691"/>
          <a:ext cx="7200900" cy="5968309"/>
        </p:xfrm>
        <a:graphic>
          <a:graphicData uri="http://schemas.openxmlformats.org/drawingml/2006/chart">
            <c:chart xmlns:c="http://schemas.openxmlformats.org/drawingml/2006/chart" xmlns:r="http://schemas.openxmlformats.org/officeDocument/2006/relationships" r:id="rId4"/>
          </a:graphicData>
        </a:graphic>
      </p:graphicFrame>
      <p:sp>
        <p:nvSpPr>
          <p:cNvPr id="3" name="Dikdörtgen 2">
            <a:extLst>
              <a:ext uri="{FF2B5EF4-FFF2-40B4-BE49-F238E27FC236}">
                <a16:creationId xmlns:a16="http://schemas.microsoft.com/office/drawing/2014/main" id="{8AABAB28-1B39-F826-1802-46CDE2A48BD1}"/>
              </a:ext>
            </a:extLst>
          </p:cNvPr>
          <p:cNvSpPr/>
          <p:nvPr/>
        </p:nvSpPr>
        <p:spPr>
          <a:xfrm>
            <a:off x="2624921" y="464436"/>
            <a:ext cx="6942157" cy="461665"/>
          </a:xfrm>
          <a:prstGeom prst="rect">
            <a:avLst/>
          </a:prstGeom>
        </p:spPr>
        <p:txBody>
          <a:bodyPr wrap="none">
            <a:spAutoFit/>
          </a:bodyPr>
          <a:lstStyle/>
          <a:p>
            <a:r>
              <a:rPr lang="tr-TR" sz="2400" b="1" dirty="0">
                <a:solidFill>
                  <a:prstClr val="black"/>
                </a:solidFill>
              </a:rPr>
              <a:t>2024-2025 ELEKTRİK TÜKETİMİ KIYASLAMA (kWh/AY)</a:t>
            </a:r>
          </a:p>
        </p:txBody>
      </p:sp>
    </p:spTree>
    <p:extLst>
      <p:ext uri="{BB962C8B-B14F-4D97-AF65-F5344CB8AC3E}">
        <p14:creationId xmlns:p14="http://schemas.microsoft.com/office/powerpoint/2010/main" val="3793681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26662-BA18-CFE4-5B5B-001BA45022DB}"/>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503E4BCF-BEF7-F057-7ABA-BA8100C93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227FFE3C-AC96-A429-BFD4-132B4D01D4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graphicFrame>
        <p:nvGraphicFramePr>
          <p:cNvPr id="2" name="Grafik 1">
            <a:extLst>
              <a:ext uri="{FF2B5EF4-FFF2-40B4-BE49-F238E27FC236}">
                <a16:creationId xmlns:a16="http://schemas.microsoft.com/office/drawing/2014/main" id="{A375D07B-0230-1D2E-4707-CA45D9D31D3D}"/>
              </a:ext>
            </a:extLst>
          </p:cNvPr>
          <p:cNvGraphicFramePr/>
          <p:nvPr>
            <p:extLst>
              <p:ext uri="{D42A27DB-BD31-4B8C-83A1-F6EECF244321}">
                <p14:modId xmlns:p14="http://schemas.microsoft.com/office/powerpoint/2010/main" val="2936421123"/>
              </p:ext>
            </p:extLst>
          </p:nvPr>
        </p:nvGraphicFramePr>
        <p:xfrm>
          <a:off x="1504950" y="404596"/>
          <a:ext cx="9182100" cy="604880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38350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1CCE-9717-8BC9-A0DA-C7992E9FE3B5}"/>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05C19654-AB2C-D74A-21E7-89368C2D5D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BD0290C1-AC44-C968-E7DF-61DA2DA0C0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graphicFrame>
        <p:nvGraphicFramePr>
          <p:cNvPr id="2" name="Grafik 1">
            <a:extLst>
              <a:ext uri="{FF2B5EF4-FFF2-40B4-BE49-F238E27FC236}">
                <a16:creationId xmlns:a16="http://schemas.microsoft.com/office/drawing/2014/main" id="{0512EF6F-17AA-B896-C755-6F0797A793E2}"/>
              </a:ext>
            </a:extLst>
          </p:cNvPr>
          <p:cNvGraphicFramePr/>
          <p:nvPr>
            <p:extLst>
              <p:ext uri="{D42A27DB-BD31-4B8C-83A1-F6EECF244321}">
                <p14:modId xmlns:p14="http://schemas.microsoft.com/office/powerpoint/2010/main" val="1957193976"/>
              </p:ext>
            </p:extLst>
          </p:nvPr>
        </p:nvGraphicFramePr>
        <p:xfrm>
          <a:off x="2316956" y="1481395"/>
          <a:ext cx="7558087" cy="5352127"/>
        </p:xfrm>
        <a:graphic>
          <a:graphicData uri="http://schemas.openxmlformats.org/drawingml/2006/chart">
            <c:chart xmlns:c="http://schemas.openxmlformats.org/drawingml/2006/chart" xmlns:r="http://schemas.openxmlformats.org/officeDocument/2006/relationships" r:id="rId4"/>
          </a:graphicData>
        </a:graphic>
      </p:graphicFrame>
      <p:sp>
        <p:nvSpPr>
          <p:cNvPr id="3" name="Dikdörtgen 2">
            <a:extLst>
              <a:ext uri="{FF2B5EF4-FFF2-40B4-BE49-F238E27FC236}">
                <a16:creationId xmlns:a16="http://schemas.microsoft.com/office/drawing/2014/main" id="{2F9EE964-FD6A-93D8-20FD-F161FC47BE3F}"/>
              </a:ext>
            </a:extLst>
          </p:cNvPr>
          <p:cNvSpPr/>
          <p:nvPr/>
        </p:nvSpPr>
        <p:spPr>
          <a:xfrm>
            <a:off x="3786552" y="464436"/>
            <a:ext cx="4618893" cy="461665"/>
          </a:xfrm>
          <a:prstGeom prst="rect">
            <a:avLst/>
          </a:prstGeom>
        </p:spPr>
        <p:txBody>
          <a:bodyPr wrap="none">
            <a:spAutoFit/>
          </a:bodyPr>
          <a:lstStyle/>
          <a:p>
            <a:r>
              <a:rPr lang="tr-TR" sz="2400" b="1" dirty="0">
                <a:solidFill>
                  <a:prstClr val="black"/>
                </a:solidFill>
              </a:rPr>
              <a:t>2024-2025 LNG KIYASLAMA (LT/AY)</a:t>
            </a:r>
          </a:p>
        </p:txBody>
      </p:sp>
    </p:spTree>
    <p:extLst>
      <p:ext uri="{BB962C8B-B14F-4D97-AF65-F5344CB8AC3E}">
        <p14:creationId xmlns:p14="http://schemas.microsoft.com/office/powerpoint/2010/main" val="3188019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A5A0E-4148-DC23-FED5-E6BFECAF1BA1}"/>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3D8FF773-0B8B-1CA7-C86D-683EB79041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C6226266-EAC5-9683-7281-FC24048069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graphicFrame>
        <p:nvGraphicFramePr>
          <p:cNvPr id="3" name="Grafik 2">
            <a:extLst>
              <a:ext uri="{FF2B5EF4-FFF2-40B4-BE49-F238E27FC236}">
                <a16:creationId xmlns:a16="http://schemas.microsoft.com/office/drawing/2014/main" id="{08107B9F-4221-6908-0869-5F95C8A58319}"/>
              </a:ext>
            </a:extLst>
          </p:cNvPr>
          <p:cNvGraphicFramePr/>
          <p:nvPr>
            <p:extLst>
              <p:ext uri="{D42A27DB-BD31-4B8C-83A1-F6EECF244321}">
                <p14:modId xmlns:p14="http://schemas.microsoft.com/office/powerpoint/2010/main" val="1370142778"/>
              </p:ext>
            </p:extLst>
          </p:nvPr>
        </p:nvGraphicFramePr>
        <p:xfrm>
          <a:off x="0" y="0"/>
          <a:ext cx="13792200" cy="6858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55271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C58A-C936-8FBE-702B-64DD990FDE21}"/>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7C201E7B-E3E0-7809-1B7D-687E66C6D0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8A7AD249-6EF9-D733-D296-3E64F16C0E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graphicFrame>
        <p:nvGraphicFramePr>
          <p:cNvPr id="2" name="Grafik 1">
            <a:extLst>
              <a:ext uri="{FF2B5EF4-FFF2-40B4-BE49-F238E27FC236}">
                <a16:creationId xmlns:a16="http://schemas.microsoft.com/office/drawing/2014/main" id="{9A9A5923-75C7-8A6A-0C8F-4C6F536828C7}"/>
              </a:ext>
            </a:extLst>
          </p:cNvPr>
          <p:cNvGraphicFramePr/>
          <p:nvPr>
            <p:extLst>
              <p:ext uri="{D42A27DB-BD31-4B8C-83A1-F6EECF244321}">
                <p14:modId xmlns:p14="http://schemas.microsoft.com/office/powerpoint/2010/main" val="296591638"/>
              </p:ext>
            </p:extLst>
          </p:nvPr>
        </p:nvGraphicFramePr>
        <p:xfrm>
          <a:off x="-1" y="-1"/>
          <a:ext cx="13916025" cy="686703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79888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7ADB-DAAF-E0CB-A691-CA9590F06E58}"/>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8B77A53E-A4AB-A4FB-A501-12BBFE04EF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9A2BB6F8-2156-99C6-0910-149A769AD9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graphicFrame>
        <p:nvGraphicFramePr>
          <p:cNvPr id="2" name="Grafik 1">
            <a:extLst>
              <a:ext uri="{FF2B5EF4-FFF2-40B4-BE49-F238E27FC236}">
                <a16:creationId xmlns:a16="http://schemas.microsoft.com/office/drawing/2014/main" id="{8AD5A648-4383-8E6D-1263-D337A3E66402}"/>
              </a:ext>
            </a:extLst>
          </p:cNvPr>
          <p:cNvGraphicFramePr/>
          <p:nvPr>
            <p:extLst>
              <p:ext uri="{D42A27DB-BD31-4B8C-83A1-F6EECF244321}">
                <p14:modId xmlns:p14="http://schemas.microsoft.com/office/powerpoint/2010/main" val="1149597766"/>
              </p:ext>
            </p:extLst>
          </p:nvPr>
        </p:nvGraphicFramePr>
        <p:xfrm>
          <a:off x="2152649" y="1243490"/>
          <a:ext cx="7886699" cy="5267325"/>
        </p:xfrm>
        <a:graphic>
          <a:graphicData uri="http://schemas.openxmlformats.org/drawingml/2006/chart">
            <c:chart xmlns:c="http://schemas.openxmlformats.org/drawingml/2006/chart" xmlns:r="http://schemas.openxmlformats.org/officeDocument/2006/relationships" r:id="rId4"/>
          </a:graphicData>
        </a:graphic>
      </p:graphicFrame>
      <p:sp>
        <p:nvSpPr>
          <p:cNvPr id="3" name="Unvan 1">
            <a:extLst>
              <a:ext uri="{FF2B5EF4-FFF2-40B4-BE49-F238E27FC236}">
                <a16:creationId xmlns:a16="http://schemas.microsoft.com/office/drawing/2014/main" id="{CF0D7029-34B1-283C-C924-9E4BC02D2D3A}"/>
              </a:ext>
            </a:extLst>
          </p:cNvPr>
          <p:cNvSpPr txBox="1">
            <a:spLocks/>
          </p:cNvSpPr>
          <p:nvPr/>
        </p:nvSpPr>
        <p:spPr>
          <a:xfrm>
            <a:off x="600073" y="476139"/>
            <a:ext cx="10991850" cy="1477328"/>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tr-TR" sz="2400" b="1" dirty="0">
                <a:latin typeface="Calibri" panose="020F0502020204030204" pitchFamily="34" charset="0"/>
                <a:ea typeface="Calibri" panose="020F0502020204030204" pitchFamily="34" charset="0"/>
                <a:cs typeface="Calibri" panose="020F0502020204030204" pitchFamily="34" charset="0"/>
              </a:rPr>
              <a:t>2024-2025 AMBALAJ MİKTARI KIYASLAMA</a:t>
            </a:r>
          </a:p>
        </p:txBody>
      </p:sp>
    </p:spTree>
    <p:extLst>
      <p:ext uri="{BB962C8B-B14F-4D97-AF65-F5344CB8AC3E}">
        <p14:creationId xmlns:p14="http://schemas.microsoft.com/office/powerpoint/2010/main" val="1574608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5EF6B-C8EC-3C48-C8CB-E4A71C18631E}"/>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04A1A309-572E-30C3-15C9-4FF8F0D3D7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BDD19EFE-8DB7-9E5B-1CED-7FB1781F23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sp>
        <p:nvSpPr>
          <p:cNvPr id="3" name="Metin kutusu 2">
            <a:extLst>
              <a:ext uri="{FF2B5EF4-FFF2-40B4-BE49-F238E27FC236}">
                <a16:creationId xmlns:a16="http://schemas.microsoft.com/office/drawing/2014/main" id="{A8D0AF42-9BA3-0A4B-E60B-DB88996FDEFE}"/>
              </a:ext>
            </a:extLst>
          </p:cNvPr>
          <p:cNvSpPr txBox="1"/>
          <p:nvPr/>
        </p:nvSpPr>
        <p:spPr>
          <a:xfrm>
            <a:off x="3290048" y="402881"/>
            <a:ext cx="4509246" cy="584775"/>
          </a:xfrm>
          <a:prstGeom prst="rect">
            <a:avLst/>
          </a:prstGeom>
          <a:noFill/>
        </p:spPr>
        <p:txBody>
          <a:bodyPr wrap="square">
            <a:spAutoFit/>
          </a:bodyPr>
          <a:lstStyle/>
          <a:p>
            <a:r>
              <a:rPr lang="tr-TR" sz="3200" b="1" dirty="0">
                <a:latin typeface="Calibri" panose="020F0502020204030204" pitchFamily="34" charset="0"/>
                <a:ea typeface="Calibri" panose="020F0502020204030204" pitchFamily="34" charset="0"/>
                <a:cs typeface="Calibri" panose="020F0502020204030204" pitchFamily="34" charset="0"/>
              </a:rPr>
              <a:t>ÇEVREYE KATKILARIMIZ</a:t>
            </a:r>
            <a:endParaRPr lang="tr-TR" sz="3200" dirty="0"/>
          </a:p>
        </p:txBody>
      </p:sp>
      <p:graphicFrame>
        <p:nvGraphicFramePr>
          <p:cNvPr id="4" name="İçerik Yer Tutucusu 2">
            <a:extLst>
              <a:ext uri="{FF2B5EF4-FFF2-40B4-BE49-F238E27FC236}">
                <a16:creationId xmlns:a16="http://schemas.microsoft.com/office/drawing/2014/main" id="{5E389341-BC2F-35E1-F8D5-FB9EA272C77F}"/>
              </a:ext>
            </a:extLst>
          </p:cNvPr>
          <p:cNvGraphicFramePr/>
          <p:nvPr>
            <p:extLst>
              <p:ext uri="{D42A27DB-BD31-4B8C-83A1-F6EECF244321}">
                <p14:modId xmlns:p14="http://schemas.microsoft.com/office/powerpoint/2010/main" val="1213371561"/>
              </p:ext>
            </p:extLst>
          </p:nvPr>
        </p:nvGraphicFramePr>
        <p:xfrm>
          <a:off x="-1064359" y="1337854"/>
          <a:ext cx="10036214" cy="50440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Resim 4" descr="ağaç, gökkuşağı, doğa, bulut içeren bir resim&#10;&#10;Açıklama otomatik olarak oluşturuldu">
            <a:extLst>
              <a:ext uri="{FF2B5EF4-FFF2-40B4-BE49-F238E27FC236}">
                <a16:creationId xmlns:a16="http://schemas.microsoft.com/office/drawing/2014/main" id="{B2A501B6-4F1C-7A6B-4582-4709B075FB0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527244" y="1337854"/>
            <a:ext cx="4509246" cy="5235862"/>
          </a:xfrm>
          <a:prstGeom prst="rect">
            <a:avLst/>
          </a:prstGeom>
          <a:ln>
            <a:noFill/>
          </a:ln>
          <a:effectLst>
            <a:softEdge rad="112500"/>
          </a:effectLst>
        </p:spPr>
      </p:pic>
    </p:spTree>
    <p:extLst>
      <p:ext uri="{BB962C8B-B14F-4D97-AF65-F5344CB8AC3E}">
        <p14:creationId xmlns:p14="http://schemas.microsoft.com/office/powerpoint/2010/main" val="1094650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E7CC5-788E-E80F-C921-660AE60D9D68}"/>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E68EE196-8737-600B-1679-DB27511DB0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B4106509-1697-DDD5-E0AF-ADC2F10C1F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pic>
        <p:nvPicPr>
          <p:cNvPr id="3" name="Resim 2" descr="çizim, çocukların yaptığı resimler, yeşil, kırpıntı çizim içeren bir resim&#10;&#10;Açıklama otomatik olarak oluşturuldu">
            <a:extLst>
              <a:ext uri="{FF2B5EF4-FFF2-40B4-BE49-F238E27FC236}">
                <a16:creationId xmlns:a16="http://schemas.microsoft.com/office/drawing/2014/main" id="{A16A1843-3B02-AF39-C169-9C646E935655}"/>
              </a:ext>
            </a:extLst>
          </p:cNvPr>
          <p:cNvPicPr>
            <a:picLocks noChangeAspect="1"/>
          </p:cNvPicPr>
          <p:nvPr/>
        </p:nvPicPr>
        <p:blipFill>
          <a:blip r:embed="rId4"/>
          <a:srcRect r="-2" b="7161"/>
          <a:stretch/>
        </p:blipFill>
        <p:spPr>
          <a:xfrm>
            <a:off x="7313256" y="793102"/>
            <a:ext cx="4135405" cy="4796381"/>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pic>
        <p:nvPicPr>
          <p:cNvPr id="5" name="Resim 4" descr="metin, ekran görüntüsü, yazı tipi, çizgi içeren bir resim&#10;&#10;Yapay zeka tarafından oluşturulmuş içerik yanlış olabilir.">
            <a:extLst>
              <a:ext uri="{FF2B5EF4-FFF2-40B4-BE49-F238E27FC236}">
                <a16:creationId xmlns:a16="http://schemas.microsoft.com/office/drawing/2014/main" id="{95FD1E42-8E7E-E3B1-D87C-A9EC84BB0E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2715" y="1707502"/>
            <a:ext cx="5822189" cy="3583401"/>
          </a:xfrm>
          <a:prstGeom prst="rect">
            <a:avLst/>
          </a:prstGeom>
        </p:spPr>
      </p:pic>
      <p:sp>
        <p:nvSpPr>
          <p:cNvPr id="8" name="Dikdörtgen: Köşeleri Yuvarlatılmış 7">
            <a:extLst>
              <a:ext uri="{FF2B5EF4-FFF2-40B4-BE49-F238E27FC236}">
                <a16:creationId xmlns:a16="http://schemas.microsoft.com/office/drawing/2014/main" id="{9925A346-FE97-B922-B3D7-8287F43F707A}"/>
              </a:ext>
            </a:extLst>
          </p:cNvPr>
          <p:cNvSpPr/>
          <p:nvPr/>
        </p:nvSpPr>
        <p:spPr>
          <a:xfrm>
            <a:off x="2333156" y="476139"/>
            <a:ext cx="3812194" cy="10870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tr-TR" b="1" dirty="0">
                <a:solidFill>
                  <a:schemeClr val="tx1"/>
                </a:solidFill>
              </a:rPr>
              <a:t>2025 YILI GERİ KAZANIMLARIMIZ</a:t>
            </a:r>
          </a:p>
        </p:txBody>
      </p:sp>
    </p:spTree>
    <p:extLst>
      <p:ext uri="{BB962C8B-B14F-4D97-AF65-F5344CB8AC3E}">
        <p14:creationId xmlns:p14="http://schemas.microsoft.com/office/powerpoint/2010/main" val="577884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AEDEC-249B-9CEC-2719-8497BFC4B195}"/>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96FBAEA3-2254-4AE8-767B-265214CABC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3684E359-359B-804D-60DF-985BD6181E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pic>
        <p:nvPicPr>
          <p:cNvPr id="2" name="Resim 1" descr="çizim, çocukların yaptığı resimler, yeşil, kırpıntı çizim içeren bir resim&#10;&#10;Açıklama otomatik olarak oluşturuldu">
            <a:extLst>
              <a:ext uri="{FF2B5EF4-FFF2-40B4-BE49-F238E27FC236}">
                <a16:creationId xmlns:a16="http://schemas.microsoft.com/office/drawing/2014/main" id="{03ACCC9C-B528-90BC-985F-A6438D089443}"/>
              </a:ext>
            </a:extLst>
          </p:cNvPr>
          <p:cNvPicPr>
            <a:picLocks noChangeAspect="1"/>
          </p:cNvPicPr>
          <p:nvPr/>
        </p:nvPicPr>
        <p:blipFill>
          <a:blip r:embed="rId4"/>
          <a:srcRect r="-2" b="7161"/>
          <a:stretch/>
        </p:blipFill>
        <p:spPr>
          <a:xfrm>
            <a:off x="7677150" y="559838"/>
            <a:ext cx="3583829" cy="5267352"/>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pic>
        <p:nvPicPr>
          <p:cNvPr id="5" name="Resim 4" descr="metin, yazı tipi, ekran görüntüsü, diyagram içeren bir resim&#10;&#10;Yapay zeka tarafından oluşturulmuş içerik yanlış olabilir.">
            <a:extLst>
              <a:ext uri="{FF2B5EF4-FFF2-40B4-BE49-F238E27FC236}">
                <a16:creationId xmlns:a16="http://schemas.microsoft.com/office/drawing/2014/main" id="{D91E8C08-C37F-90AD-8AED-7C93F81907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696" y="2311121"/>
            <a:ext cx="7133257" cy="2591060"/>
          </a:xfrm>
          <a:prstGeom prst="rect">
            <a:avLst/>
          </a:prstGeom>
        </p:spPr>
      </p:pic>
    </p:spTree>
    <p:extLst>
      <p:ext uri="{BB962C8B-B14F-4D97-AF65-F5344CB8AC3E}">
        <p14:creationId xmlns:p14="http://schemas.microsoft.com/office/powerpoint/2010/main" val="980636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32986-70BB-9DA9-20CE-66FC01A0DB79}"/>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96555D15-FCC9-35D4-3994-6E946D0B8E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AFF92794-821A-1DB7-F9BE-3BA8F29D3A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pic>
        <p:nvPicPr>
          <p:cNvPr id="2" name="Resim 1" descr="çizim, çocukların yaptığı resimler, yeşil, kırpıntı çizim içeren bir resim&#10;&#10;Açıklama otomatik olarak oluşturuldu">
            <a:extLst>
              <a:ext uri="{FF2B5EF4-FFF2-40B4-BE49-F238E27FC236}">
                <a16:creationId xmlns:a16="http://schemas.microsoft.com/office/drawing/2014/main" id="{A177D828-BDDA-1F3A-F9A7-85A1F849B76B}"/>
              </a:ext>
            </a:extLst>
          </p:cNvPr>
          <p:cNvPicPr>
            <a:picLocks noChangeAspect="1"/>
          </p:cNvPicPr>
          <p:nvPr/>
        </p:nvPicPr>
        <p:blipFill>
          <a:blip r:embed="rId4"/>
          <a:srcRect r="-2" b="7161"/>
          <a:stretch/>
        </p:blipFill>
        <p:spPr>
          <a:xfrm>
            <a:off x="7918310" y="695269"/>
            <a:ext cx="3583829" cy="5352127"/>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pic>
        <p:nvPicPr>
          <p:cNvPr id="5" name="Resim 4" descr="metin, yazı tipi, ekran görüntüsü, beyaz içeren bir resim&#10;&#10;Yapay zeka tarafından oluşturulmuş içerik yanlış olabilir.">
            <a:extLst>
              <a:ext uri="{FF2B5EF4-FFF2-40B4-BE49-F238E27FC236}">
                <a16:creationId xmlns:a16="http://schemas.microsoft.com/office/drawing/2014/main" id="{9238389A-544F-644B-1E9A-2B4055BCE8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590" y="2159923"/>
            <a:ext cx="7362925" cy="2779312"/>
          </a:xfrm>
          <a:prstGeom prst="rect">
            <a:avLst/>
          </a:prstGeom>
        </p:spPr>
      </p:pic>
    </p:spTree>
    <p:extLst>
      <p:ext uri="{BB962C8B-B14F-4D97-AF65-F5344CB8AC3E}">
        <p14:creationId xmlns:p14="http://schemas.microsoft.com/office/powerpoint/2010/main" val="1515419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5FEF2-9669-CCDD-DE83-9923FF6DB64B}"/>
            </a:ext>
          </a:extLst>
        </p:cNvPr>
        <p:cNvGrpSpPr/>
        <p:nvPr/>
      </p:nvGrpSpPr>
      <p:grpSpPr>
        <a:xfrm>
          <a:off x="0" y="0"/>
          <a:ext cx="0" cy="0"/>
          <a:chOff x="0" y="0"/>
          <a:chExt cx="0" cy="0"/>
        </a:xfrm>
      </p:grpSpPr>
      <p:pic>
        <p:nvPicPr>
          <p:cNvPr id="6" name="Resim 5">
            <a:extLst>
              <a:ext uri="{FF2B5EF4-FFF2-40B4-BE49-F238E27FC236}">
                <a16:creationId xmlns:a16="http://schemas.microsoft.com/office/drawing/2014/main" id="{C89E9DDC-BC9F-6B8E-5CF5-D6D38555DA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5" y="1514908"/>
            <a:ext cx="1750780" cy="5352127"/>
          </a:xfrm>
          <a:prstGeom prst="rect">
            <a:avLst/>
          </a:prstGeom>
        </p:spPr>
      </p:pic>
      <p:pic>
        <p:nvPicPr>
          <p:cNvPr id="7" name="Resim 6">
            <a:extLst>
              <a:ext uri="{FF2B5EF4-FFF2-40B4-BE49-F238E27FC236}">
                <a16:creationId xmlns:a16="http://schemas.microsoft.com/office/drawing/2014/main" id="{64D51D37-D814-3984-241B-47D70243B5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83" y="476139"/>
            <a:ext cx="587668" cy="438261"/>
          </a:xfrm>
          <a:prstGeom prst="rect">
            <a:avLst/>
          </a:prstGeom>
        </p:spPr>
      </p:pic>
      <p:pic>
        <p:nvPicPr>
          <p:cNvPr id="3" name="Resim 2" descr="çizim, çocukların yaptığı resimler, yeşil, kırpıntı çizim içeren bir resim&#10;&#10;Açıklama otomatik olarak oluşturuldu">
            <a:extLst>
              <a:ext uri="{FF2B5EF4-FFF2-40B4-BE49-F238E27FC236}">
                <a16:creationId xmlns:a16="http://schemas.microsoft.com/office/drawing/2014/main" id="{99BF7253-0C29-A88C-5DC9-F341C3BB4B75}"/>
              </a:ext>
            </a:extLst>
          </p:cNvPr>
          <p:cNvPicPr>
            <a:picLocks noChangeAspect="1"/>
          </p:cNvPicPr>
          <p:nvPr/>
        </p:nvPicPr>
        <p:blipFill>
          <a:blip r:embed="rId4"/>
          <a:srcRect r="-2" b="7161"/>
          <a:stretch/>
        </p:blipFill>
        <p:spPr>
          <a:xfrm>
            <a:off x="7751794" y="618042"/>
            <a:ext cx="3583829" cy="5621916"/>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pic>
        <p:nvPicPr>
          <p:cNvPr id="5" name="Resim 4" descr="metin, yazı tipi, ekran görüntüsü, çizgi içeren bir resim&#10;&#10;Yapay zeka tarafından oluşturulmuş içerik yanlış olabilir.">
            <a:extLst>
              <a:ext uri="{FF2B5EF4-FFF2-40B4-BE49-F238E27FC236}">
                <a16:creationId xmlns:a16="http://schemas.microsoft.com/office/drawing/2014/main" id="{2425FA81-368E-5D2A-072B-5897184598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1021" y="2006081"/>
            <a:ext cx="6279501" cy="2985796"/>
          </a:xfrm>
          <a:prstGeom prst="rect">
            <a:avLst/>
          </a:prstGeom>
        </p:spPr>
      </p:pic>
    </p:spTree>
    <p:extLst>
      <p:ext uri="{BB962C8B-B14F-4D97-AF65-F5344CB8AC3E}">
        <p14:creationId xmlns:p14="http://schemas.microsoft.com/office/powerpoint/2010/main" val="2107435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1854" y="0"/>
            <a:ext cx="2246335" cy="6867036"/>
          </a:xfrm>
          <a:prstGeom prst="rect">
            <a:avLst/>
          </a:prstGeom>
        </p:spPr>
      </p:pic>
      <p:sp>
        <p:nvSpPr>
          <p:cNvPr id="2" name="Dikdörtgen 1"/>
          <p:cNvSpPr/>
          <p:nvPr/>
        </p:nvSpPr>
        <p:spPr>
          <a:xfrm>
            <a:off x="0" y="0"/>
            <a:ext cx="121920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bg1"/>
              </a:solidFill>
              <a:latin typeface="Arial Black" panose="020B0A04020102020204" pitchFamily="34" charset="0"/>
            </a:endParaRPr>
          </a:p>
          <a:p>
            <a:pPr algn="ctr"/>
            <a:endParaRPr lang="tr-TR" b="0" i="0" dirty="0">
              <a:solidFill>
                <a:schemeClr val="bg1"/>
              </a:solidFill>
              <a:effectLst/>
              <a:latin typeface="Arial Black" panose="020B0A04020102020204" pitchFamily="34" charset="0"/>
            </a:endParaRPr>
          </a:p>
          <a:p>
            <a:pPr algn="ctr"/>
            <a:endParaRPr lang="tr-TR" dirty="0">
              <a:solidFill>
                <a:schemeClr val="bg1"/>
              </a:solidFill>
              <a:latin typeface="Arial Black" panose="020B0A04020102020204" pitchFamily="34" charset="0"/>
            </a:endParaRPr>
          </a:p>
          <a:p>
            <a:pPr algn="ctr"/>
            <a:endParaRPr lang="tr-TR" b="0" i="0" dirty="0">
              <a:solidFill>
                <a:schemeClr val="bg1"/>
              </a:solidFill>
              <a:effectLst/>
              <a:latin typeface="Arial Black" panose="020B0A04020102020204" pitchFamily="34" charset="0"/>
            </a:endParaRPr>
          </a:p>
          <a:p>
            <a:pPr algn="ctr"/>
            <a:endParaRPr lang="tr-TR" dirty="0">
              <a:solidFill>
                <a:schemeClr val="bg1"/>
              </a:solidFill>
              <a:latin typeface="Arial Black" panose="020B0A04020102020204" pitchFamily="34" charset="0"/>
            </a:endParaRPr>
          </a:p>
          <a:p>
            <a:pPr algn="ctr"/>
            <a:r>
              <a:rPr lang="tr-TR" b="0" i="0" dirty="0">
                <a:solidFill>
                  <a:schemeClr val="bg1"/>
                </a:solidFill>
                <a:effectLst/>
                <a:latin typeface="Arial Black" panose="020B0A04020102020204" pitchFamily="34" charset="0"/>
              </a:rPr>
              <a:t>TEŞEKKÜRLER</a:t>
            </a:r>
            <a:endParaRPr lang="tr-TR" dirty="0">
              <a:solidFill>
                <a:schemeClr val="bg1"/>
              </a:solidFill>
              <a:latin typeface="Arial Black" panose="020B0A04020102020204" pitchFamily="34" charset="0"/>
            </a:endParaRPr>
          </a:p>
          <a:p>
            <a:pPr algn="ctr"/>
            <a:endParaRPr lang="tr-TR" dirty="0"/>
          </a:p>
        </p:txBody>
      </p:sp>
      <p:pic>
        <p:nvPicPr>
          <p:cNvPr id="3" name="Resi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067" y="6060033"/>
            <a:ext cx="2517866" cy="201185"/>
          </a:xfrm>
          <a:prstGeom prst="rect">
            <a:avLst/>
          </a:prstGeom>
        </p:spPr>
      </p:pic>
      <p:pic>
        <p:nvPicPr>
          <p:cNvPr id="4" name="Resim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3191" y="1942838"/>
            <a:ext cx="2165617" cy="1615037"/>
          </a:xfrm>
          <a:prstGeom prst="rect">
            <a:avLst/>
          </a:prstGeom>
        </p:spPr>
      </p:pic>
    </p:spTree>
    <p:extLst>
      <p:ext uri="{BB962C8B-B14F-4D97-AF65-F5344CB8AC3E}">
        <p14:creationId xmlns:p14="http://schemas.microsoft.com/office/powerpoint/2010/main" val="3872004"/>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534</TotalTime>
  <Words>1500</Words>
  <Application>Microsoft Office PowerPoint</Application>
  <PresentationFormat>Geniş ekran</PresentationFormat>
  <Paragraphs>93</Paragraphs>
  <Slides>21</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21</vt:i4>
      </vt:variant>
    </vt:vector>
  </HeadingPairs>
  <TitlesOfParts>
    <vt:vector size="27" baseType="lpstr">
      <vt:lpstr>Arial</vt:lpstr>
      <vt:lpstr>Arial Black</vt:lpstr>
      <vt:lpstr>Calibri</vt:lpstr>
      <vt:lpstr>Calibri Light</vt:lpstr>
      <vt:lpstr>quote-cjk-patch</vt:lpstr>
      <vt:lpstr>Office Teması</vt:lpstr>
      <vt:lpstr>SÜRDÜRÜLEBİLİRLİK RAPORU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BAŞLIK</dc:title>
  <dc:creator>HP</dc:creator>
  <cp:lastModifiedBy>qualitymanager lagohotel</cp:lastModifiedBy>
  <cp:revision>82</cp:revision>
  <dcterms:created xsi:type="dcterms:W3CDTF">2024-05-01T13:20:34Z</dcterms:created>
  <dcterms:modified xsi:type="dcterms:W3CDTF">2026-02-02T10:32:25Z</dcterms:modified>
</cp:coreProperties>
</file>